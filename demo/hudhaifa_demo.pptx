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أبدأ بالاسم: عين، والحرف ع في الشعار على شكل عين.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الفكرة بدأت صغيرة: ثلاث كلمات فقط، ثم كبرت.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شغّل المقطع هنا.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الأقسام كما تظهر في الشريط السفلي داخل التطبيق.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قسم الترجمة.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قسم الاستماع.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قسم الدروس.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قسم درّب أهلك.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قسم قاموسي.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قسم الأوامر.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نقطة مهمة لمن يستخدم الكاميرا.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شكراً.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video" Target="../media/media-3-2.mp4"/><Relationship Id="rId3" Type="http://schemas.microsoft.com/office/2007/relationships/media" Target="../media/media-3-2.mp4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mmody1334-gif.github.io/ain-app" TargetMode="External"/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nim-zoom-logo" descr="/home/claude/assets/logo_fu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240000">
            <a:off x="1188720" y="1097280"/>
            <a:ext cx="3840480" cy="4800600"/>
          </a:xfrm>
          <a:prstGeom prst="rect">
            <a:avLst/>
          </a:prstGeom>
          <a:effectLst>
            <a:outerShdw sx="100000" sy="100000" kx="0" ky="0" algn="bl" rotWithShape="0" blurRad="177800" dist="76200" dir="3600000">
              <a:srgbClr val="000000">
                <a:alpha val="35000"/>
              </a:srgbClr>
            </a:outerShdw>
          </a:effectLst>
        </p:spPr>
      </p:pic>
      <p:sp>
        <p:nvSpPr>
          <p:cNvPr id="3" name="anim-fade-title"/>
          <p:cNvSpPr txBox="1"/>
          <p:nvPr/>
        </p:nvSpPr>
        <p:spPr>
          <a:xfrm>
            <a:off x="5669280" y="118872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2000" b="1" dirty="0">
                <a:solidFill>
                  <a:srgbClr val="FBF3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عين</a:t>
            </a:r>
            <a:endParaRPr lang="ar-SA" sz="12000" dirty="0"/>
          </a:p>
        </p:txBody>
      </p:sp>
      <p:sp>
        <p:nvSpPr>
          <p:cNvPr id="4" name="anim-wipe-sq"/>
          <p:cNvSpPr/>
          <p:nvPr/>
        </p:nvSpPr>
        <p:spPr>
          <a:xfrm>
            <a:off x="8778240" y="3200400"/>
            <a:ext cx="2926080" cy="128016"/>
          </a:xfrm>
          <a:custGeom>
            <a:avLst/>
            <a:gdLst/>
            <a:ahLst/>
            <a:cxnLst/>
            <a:rect l="l" t="t" r="r" b="b"/>
            <a:pathLst>
              <a:path w="2926080" h="128016">
                <a:moveTo>
                  <a:pt x="0" y="73152"/>
                </a:moveTo>
                <a:cubicBezTo>
                  <a:pt x="146304" y="109728"/>
                  <a:pt x="341376" y="0"/>
                  <a:pt x="515112" y="18288"/>
                </a:cubicBezTo>
                <a:cubicBezTo>
                  <a:pt x="633984" y="18288"/>
                  <a:pt x="829056" y="137160"/>
                  <a:pt x="1030224" y="109728"/>
                </a:cubicBezTo>
                <a:cubicBezTo>
                  <a:pt x="1121664" y="109728"/>
                  <a:pt x="1316736" y="0"/>
                  <a:pt x="1463040" y="18288"/>
                </a:cubicBezTo>
                <a:cubicBezTo>
                  <a:pt x="1609344" y="18288"/>
                  <a:pt x="1804416" y="137160"/>
                  <a:pt x="1978152" y="109728"/>
                </a:cubicBezTo>
                <a:cubicBezTo>
                  <a:pt x="2097024" y="109728"/>
                  <a:pt x="2292096" y="0"/>
                  <a:pt x="2493264" y="18288"/>
                </a:cubicBezTo>
                <a:cubicBezTo>
                  <a:pt x="2584704" y="18288"/>
                  <a:pt x="2779776" y="137160"/>
                  <a:pt x="2926080" y="54864"/>
                </a:cubicBezTo>
              </a:path>
            </a:pathLst>
          </a:custGeom>
          <a:ln w="44450">
            <a:solidFill>
              <a:srgbClr val="E8801A"/>
            </a:solidFill>
            <a:prstDash val="solid"/>
          </a:ln>
        </p:spPr>
      </p:sp>
      <p:sp>
        <p:nvSpPr>
          <p:cNvPr id="5" name="anim-fade-sub"/>
          <p:cNvSpPr txBox="1"/>
          <p:nvPr/>
        </p:nvSpPr>
        <p:spPr>
          <a:xfrm>
            <a:off x="5669280" y="352044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35000"/>
              </a:lnSpc>
              <a:buNone/>
            </a:pPr>
            <a:r>
              <a:rPr lang="ar-SA" sz="2400" dirty="0">
                <a:solidFill>
                  <a:srgbClr val="D9E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 يقرأ لغة الإشارة العربية ويقولها بصوت، ويسمع الكلام ويريك إشارته.</a:t>
            </a:r>
            <a:endParaRPr lang="ar-SA" sz="2400" dirty="0"/>
          </a:p>
        </p:txBody>
      </p:sp>
      <p:sp>
        <p:nvSpPr>
          <p:cNvPr id="6" name="anim-fade-sub2"/>
          <p:cNvSpPr txBox="1"/>
          <p:nvPr/>
        </p:nvSpPr>
        <p:spPr>
          <a:xfrm>
            <a:off x="5669280" y="52578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700" dirty="0">
                <a:solidFill>
                  <a:srgbClr val="E9B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يفتح من المتصفح مباشرة</a:t>
            </a:r>
            <a:endParaRPr lang="ar-SA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0" presetClass="path" presetSubtype="0" accel="50000" decel="50000" repeatCount="indefinite" autoRev="1" fill="hold" grpId="0" nodeType="withEffect">
                                  <p:stCondLst>
                                    <p:cond delay="11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011 0 E" pathEditMode="relative" rAng="0" ptsTypes="AA">
                                      <p:cBhvr>
                                        <p:cTn id="17" dur="1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-wipe-title"/>
          <p:cNvSpPr txBox="1"/>
          <p:nvPr/>
        </p:nvSpPr>
        <p:spPr>
          <a:xfrm>
            <a:off x="1097280" y="73152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4400" b="1" dirty="0">
                <a:solidFill>
                  <a:srgbClr val="FBF3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واجب مدرسي إلى تطبيق</a:t>
            </a:r>
            <a:endParaRPr lang="ar-SA" sz="4400" dirty="0"/>
          </a:p>
        </p:txBody>
      </p:sp>
      <p:sp>
        <p:nvSpPr>
          <p:cNvPr id="3" name="anim-wipe-sq"/>
          <p:cNvSpPr/>
          <p:nvPr/>
        </p:nvSpPr>
        <p:spPr>
          <a:xfrm>
            <a:off x="8138160" y="1691640"/>
            <a:ext cx="2926080" cy="128016"/>
          </a:xfrm>
          <a:custGeom>
            <a:avLst/>
            <a:gdLst/>
            <a:ahLst/>
            <a:cxnLst/>
            <a:rect l="l" t="t" r="r" b="b"/>
            <a:pathLst>
              <a:path w="2926080" h="128016">
                <a:moveTo>
                  <a:pt x="0" y="73152"/>
                </a:moveTo>
                <a:cubicBezTo>
                  <a:pt x="146304" y="109728"/>
                  <a:pt x="341376" y="0"/>
                  <a:pt x="515112" y="18288"/>
                </a:cubicBezTo>
                <a:cubicBezTo>
                  <a:pt x="633984" y="18288"/>
                  <a:pt x="829056" y="137160"/>
                  <a:pt x="1030224" y="109728"/>
                </a:cubicBezTo>
                <a:cubicBezTo>
                  <a:pt x="1121664" y="109728"/>
                  <a:pt x="1316736" y="0"/>
                  <a:pt x="1463040" y="18288"/>
                </a:cubicBezTo>
                <a:cubicBezTo>
                  <a:pt x="1609344" y="18288"/>
                  <a:pt x="1804416" y="137160"/>
                  <a:pt x="1978152" y="109728"/>
                </a:cubicBezTo>
                <a:cubicBezTo>
                  <a:pt x="2097024" y="109728"/>
                  <a:pt x="2292096" y="0"/>
                  <a:pt x="2493264" y="18288"/>
                </a:cubicBezTo>
                <a:cubicBezTo>
                  <a:pt x="2584704" y="18288"/>
                  <a:pt x="2779776" y="137160"/>
                  <a:pt x="2926080" y="54864"/>
                </a:cubicBezTo>
              </a:path>
            </a:pathLst>
          </a:custGeom>
          <a:ln w="44450">
            <a:solidFill>
              <a:srgbClr val="E8801A"/>
            </a:solidFill>
            <a:prstDash val="solid"/>
          </a:ln>
        </p:spPr>
      </p:sp>
      <p:sp>
        <p:nvSpPr>
          <p:cNvPr id="4" name="anim-fade-line"/>
          <p:cNvSpPr/>
          <p:nvPr/>
        </p:nvSpPr>
        <p:spPr>
          <a:xfrm>
            <a:off x="1097280" y="3246120"/>
            <a:ext cx="9966960" cy="0"/>
          </a:xfrm>
          <a:prstGeom prst="line">
            <a:avLst/>
          </a:prstGeom>
          <a:noFill/>
          <a:ln w="25400">
            <a:solidFill>
              <a:srgbClr val="5E8A83"/>
            </a:solidFill>
            <a:prstDash val="dash"/>
          </a:ln>
        </p:spPr>
      </p:sp>
      <p:sp>
        <p:nvSpPr>
          <p:cNvPr id="5" name="anim-fade-d0"/>
          <p:cNvSpPr/>
          <p:nvPr/>
        </p:nvSpPr>
        <p:spPr>
          <a:xfrm>
            <a:off x="10497312" y="3017520"/>
            <a:ext cx="457200" cy="457200"/>
          </a:xfrm>
          <a:prstGeom prst="ellipse">
            <a:avLst/>
          </a:prstGeom>
          <a:solidFill>
            <a:srgbClr val="E8801A"/>
          </a:solidFill>
          <a:ln w="38100">
            <a:solidFill>
              <a:srgbClr val="0F3B3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97312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ar-SA" sz="1600" dirty="0"/>
          </a:p>
        </p:txBody>
      </p:sp>
      <p:sp>
        <p:nvSpPr>
          <p:cNvPr id="7" name="anim-fade-h0"/>
          <p:cNvSpPr txBox="1"/>
          <p:nvPr/>
        </p:nvSpPr>
        <p:spPr>
          <a:xfrm>
            <a:off x="7818120" y="37947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400" b="1" dirty="0">
                <a:solidFill>
                  <a:srgbClr val="F3C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فكرة مدرسية</a:t>
            </a:r>
            <a:endParaRPr lang="ar-SA" sz="2400" dirty="0"/>
          </a:p>
        </p:txBody>
      </p:sp>
      <p:sp>
        <p:nvSpPr>
          <p:cNvPr id="8" name="anim-fade-p0"/>
          <p:cNvSpPr txBox="1"/>
          <p:nvPr/>
        </p:nvSpPr>
        <p:spPr>
          <a:xfrm>
            <a:off x="7818120" y="438912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sz="1800" dirty="0">
                <a:solidFill>
                  <a:srgbClr val="D9E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 يرى الحاسوب الإشارة بالكاميرا وينطقها بصوت.</a:t>
            </a:r>
            <a:endParaRPr lang="ar-SA" sz="1800" dirty="0"/>
          </a:p>
        </p:txBody>
      </p:sp>
      <p:sp>
        <p:nvSpPr>
          <p:cNvPr id="9" name="anim-fade-d1"/>
          <p:cNvSpPr/>
          <p:nvPr/>
        </p:nvSpPr>
        <p:spPr>
          <a:xfrm>
            <a:off x="6976872" y="3017520"/>
            <a:ext cx="457200" cy="457200"/>
          </a:xfrm>
          <a:prstGeom prst="ellipse">
            <a:avLst/>
          </a:prstGeom>
          <a:solidFill>
            <a:srgbClr val="E8801A"/>
          </a:solidFill>
          <a:ln w="38100">
            <a:solidFill>
              <a:srgbClr val="0F3B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76872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ar-SA" sz="1600" dirty="0"/>
          </a:p>
        </p:txBody>
      </p:sp>
      <p:sp>
        <p:nvSpPr>
          <p:cNvPr id="11" name="anim-fade-h1"/>
          <p:cNvSpPr txBox="1"/>
          <p:nvPr/>
        </p:nvSpPr>
        <p:spPr>
          <a:xfrm>
            <a:off x="4297680" y="37947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400" b="1" dirty="0">
                <a:solidFill>
                  <a:srgbClr val="F3C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 كلمات فقط</a:t>
            </a:r>
            <a:endParaRPr lang="ar-SA" sz="2400" dirty="0"/>
          </a:p>
        </p:txBody>
      </p:sp>
      <p:sp>
        <p:nvSpPr>
          <p:cNvPr id="12" name="anim-fade-p1"/>
          <p:cNvSpPr txBox="1"/>
          <p:nvPr/>
        </p:nvSpPr>
        <p:spPr>
          <a:xfrm>
            <a:off x="4297680" y="438912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sz="1800" dirty="0">
                <a:solidFill>
                  <a:srgbClr val="D9E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أنا، أنت، هو. بها بدأ التعرّف، وكان ينطقها بالعربية. وراءها Python وOpenCV وMediaPipe.</a:t>
            </a:r>
            <a:endParaRPr lang="ar-SA" sz="1800" dirty="0"/>
          </a:p>
        </p:txBody>
      </p:sp>
      <p:sp>
        <p:nvSpPr>
          <p:cNvPr id="13" name="anim-fade-d2"/>
          <p:cNvSpPr/>
          <p:nvPr/>
        </p:nvSpPr>
        <p:spPr>
          <a:xfrm>
            <a:off x="3456432" y="3017520"/>
            <a:ext cx="457200" cy="457200"/>
          </a:xfrm>
          <a:prstGeom prst="ellipse">
            <a:avLst/>
          </a:prstGeom>
          <a:solidFill>
            <a:srgbClr val="E8801A"/>
          </a:solidFill>
          <a:ln w="38100">
            <a:solidFill>
              <a:srgbClr val="0F3B3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56432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ar-SA" sz="1600" dirty="0"/>
          </a:p>
        </p:txBody>
      </p:sp>
      <p:sp>
        <p:nvSpPr>
          <p:cNvPr id="15" name="anim-fade-h2"/>
          <p:cNvSpPr txBox="1"/>
          <p:nvPr/>
        </p:nvSpPr>
        <p:spPr>
          <a:xfrm>
            <a:off x="777240" y="37947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400" b="1" dirty="0">
                <a:solidFill>
                  <a:srgbClr val="F3C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 اسمه عين</a:t>
            </a:r>
            <a:endParaRPr lang="ar-SA" sz="2400" dirty="0"/>
          </a:p>
        </p:txBody>
      </p:sp>
      <p:sp>
        <p:nvSpPr>
          <p:cNvPr id="16" name="anim-fade-p2"/>
          <p:cNvSpPr txBox="1"/>
          <p:nvPr/>
        </p:nvSpPr>
        <p:spPr>
          <a:xfrm>
            <a:off x="777240" y="438912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sz="1800" dirty="0">
                <a:solidFill>
                  <a:srgbClr val="D9E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صار يعمل على الهاتف من المتصفح، وحرف العين في شعاره على شكل عين.</a:t>
            </a:r>
            <a:endParaRPr lang="ar-SA" sz="1800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repeatCount="indefinite" autoRev="1" fill="hold" grpId="0" nodeType="withEffect">
                                  <p:stCondLst>
                                    <p:cond delay="11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011 0 E" pathEditMode="relative" rAng="0" ptsTypes="AA">
                                      <p:cBhvr>
                                        <p:cTn id="12" dur="1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video-clip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371600" y="502920"/>
            <a:ext cx="3291840" cy="5760720"/>
          </a:xfrm>
          <a:prstGeom prst="rect">
            <a:avLst/>
          </a:prstGeom>
        </p:spPr>
      </p:pic>
      <p:sp>
        <p:nvSpPr>
          <p:cNvPr id="3" name="anim-wipe-quote"/>
          <p:cNvSpPr txBox="1"/>
          <p:nvPr/>
        </p:nvSpPr>
        <p:spPr>
          <a:xfrm>
            <a:off x="5394960" y="1097280"/>
            <a:ext cx="6126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sz="4600" b="1" dirty="0">
                <a:solidFill>
                  <a:srgbClr val="0F3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ترى الإشارة وتحكي،</a:t>
            </a:r>
            <a:endParaRPr lang="ar-SA" sz="46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ar-SA" sz="4600" b="1" dirty="0">
                <a:solidFill>
                  <a:srgbClr val="0F3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وتسمع وتُري</a:t>
            </a:r>
            <a:endParaRPr lang="ar-SA" sz="4600" dirty="0"/>
          </a:p>
        </p:txBody>
      </p:sp>
      <p:sp>
        <p:nvSpPr>
          <p:cNvPr id="6" name="anim-wipe-sq"/>
          <p:cNvSpPr/>
          <p:nvPr/>
        </p:nvSpPr>
        <p:spPr>
          <a:xfrm>
            <a:off x="8595360" y="3886200"/>
            <a:ext cx="2926080" cy="128016"/>
          </a:xfrm>
          <a:custGeom>
            <a:avLst/>
            <a:gdLst/>
            <a:ahLst/>
            <a:cxnLst/>
            <a:rect l="l" t="t" r="r" b="b"/>
            <a:pathLst>
              <a:path w="2926080" h="128016">
                <a:moveTo>
                  <a:pt x="0" y="73152"/>
                </a:moveTo>
                <a:cubicBezTo>
                  <a:pt x="146304" y="109728"/>
                  <a:pt x="341376" y="0"/>
                  <a:pt x="515112" y="18288"/>
                </a:cubicBezTo>
                <a:cubicBezTo>
                  <a:pt x="633984" y="18288"/>
                  <a:pt x="829056" y="137160"/>
                  <a:pt x="1030224" y="109728"/>
                </a:cubicBezTo>
                <a:cubicBezTo>
                  <a:pt x="1121664" y="109728"/>
                  <a:pt x="1316736" y="0"/>
                  <a:pt x="1463040" y="18288"/>
                </a:cubicBezTo>
                <a:cubicBezTo>
                  <a:pt x="1609344" y="18288"/>
                  <a:pt x="1804416" y="137160"/>
                  <a:pt x="1978152" y="109728"/>
                </a:cubicBezTo>
                <a:cubicBezTo>
                  <a:pt x="2097024" y="109728"/>
                  <a:pt x="2292096" y="0"/>
                  <a:pt x="2493264" y="18288"/>
                </a:cubicBezTo>
                <a:cubicBezTo>
                  <a:pt x="2584704" y="18288"/>
                  <a:pt x="2779776" y="137160"/>
                  <a:pt x="2926080" y="54864"/>
                </a:cubicBezTo>
              </a:path>
            </a:pathLst>
          </a:custGeom>
          <a:ln w="44450">
            <a:solidFill>
              <a:srgbClr val="E8801A"/>
            </a:solidFill>
            <a:prstDash val="solid"/>
          </a:ln>
        </p:spPr>
      </p:sp>
      <p:sp>
        <p:nvSpPr>
          <p:cNvPr id="5" name="anim-fade-p"/>
          <p:cNvSpPr txBox="1"/>
          <p:nvPr/>
        </p:nvSpPr>
        <p:spPr>
          <a:xfrm>
            <a:off x="5394960" y="4389120"/>
            <a:ext cx="6126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sz="2100" dirty="0">
                <a:solidFill>
                  <a:srgbClr val="2B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اتجاهان في تطبيق واحد: يقرأ إشارتك ويقولها بصوت عالٍ، ويسمع كلامك فيرسم لك الإشارة المقابلة.</a:t>
            </a:r>
            <a:endParaRPr lang="ar-SA" sz="2100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repeatCount="indefinite" autoRev="1" fill="hold" grpId="0" nodeType="withEffect">
                                  <p:stCondLst>
                                    <p:cond delay="11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011 0 E" pathEditMode="relative" rAng="0" ptsTypes="AA">
                                      <p:cBhvr>
                                        <p:cTn id="16" dur="1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video>
          </p:childTnLst>
        </p:cTn>
      </p:par>
    </p:tnLst>
    <p:bldLst>
      <p:bldP spid="3" grpId="0" animBg="1"/>
      <p:bldP spid="6" grpId="0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-wipe-title"/>
          <p:cNvSpPr txBox="1"/>
          <p:nvPr/>
        </p:nvSpPr>
        <p:spPr>
          <a:xfrm>
            <a:off x="914400" y="6400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5000" b="1" dirty="0">
                <a:solidFill>
                  <a:srgbClr val="0F3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ستة أقسام</a:t>
            </a:r>
            <a:endParaRPr lang="ar-SA" sz="5000" dirty="0"/>
          </a:p>
        </p:txBody>
      </p:sp>
      <p:sp>
        <p:nvSpPr>
          <p:cNvPr id="3" name="anim-wipe-sq"/>
          <p:cNvSpPr/>
          <p:nvPr/>
        </p:nvSpPr>
        <p:spPr>
          <a:xfrm>
            <a:off x="8321040" y="1691640"/>
            <a:ext cx="2926080" cy="128016"/>
          </a:xfrm>
          <a:custGeom>
            <a:avLst/>
            <a:gdLst/>
            <a:ahLst/>
            <a:cxnLst/>
            <a:rect l="l" t="t" r="r" b="b"/>
            <a:pathLst>
              <a:path w="2926080" h="128016">
                <a:moveTo>
                  <a:pt x="0" y="73152"/>
                </a:moveTo>
                <a:cubicBezTo>
                  <a:pt x="146304" y="109728"/>
                  <a:pt x="341376" y="0"/>
                  <a:pt x="515112" y="18288"/>
                </a:cubicBezTo>
                <a:cubicBezTo>
                  <a:pt x="633984" y="18288"/>
                  <a:pt x="829056" y="137160"/>
                  <a:pt x="1030224" y="109728"/>
                </a:cubicBezTo>
                <a:cubicBezTo>
                  <a:pt x="1121664" y="109728"/>
                  <a:pt x="1316736" y="0"/>
                  <a:pt x="1463040" y="18288"/>
                </a:cubicBezTo>
                <a:cubicBezTo>
                  <a:pt x="1609344" y="18288"/>
                  <a:pt x="1804416" y="137160"/>
                  <a:pt x="1978152" y="109728"/>
                </a:cubicBezTo>
                <a:cubicBezTo>
                  <a:pt x="2097024" y="109728"/>
                  <a:pt x="2292096" y="0"/>
                  <a:pt x="2493264" y="18288"/>
                </a:cubicBezTo>
                <a:cubicBezTo>
                  <a:pt x="2584704" y="18288"/>
                  <a:pt x="2779776" y="137160"/>
                  <a:pt x="2926080" y="54864"/>
                </a:cubicBezTo>
              </a:path>
            </a:pathLst>
          </a:custGeom>
          <a:ln w="44450">
            <a:solidFill>
              <a:srgbClr val="E8801A"/>
            </a:solidFill>
            <a:prstDash val="solid"/>
          </a:ln>
        </p:spPr>
      </p:sp>
      <p:sp>
        <p:nvSpPr>
          <p:cNvPr id="4" name="anim-fade-l0"/>
          <p:cNvSpPr/>
          <p:nvPr/>
        </p:nvSpPr>
        <p:spPr>
          <a:xfrm>
            <a:off x="6309360" y="2267712"/>
            <a:ext cx="5029200" cy="0"/>
          </a:xfrm>
          <a:prstGeom prst="line">
            <a:avLst/>
          </a:prstGeom>
          <a:noFill/>
          <a:ln w="15875">
            <a:solidFill>
              <a:srgbClr val="D9CBB2"/>
            </a:solidFill>
            <a:prstDash val="solid"/>
          </a:ln>
        </p:spPr>
      </p:sp>
      <p:sp>
        <p:nvSpPr>
          <p:cNvPr id="5" name="anim-fade-n0"/>
          <p:cNvSpPr txBox="1"/>
          <p:nvPr/>
        </p:nvSpPr>
        <p:spPr>
          <a:xfrm>
            <a:off x="10607040" y="23774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4400" b="1" dirty="0">
                <a:solidFill>
                  <a:srgbClr val="E88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ar-SA" sz="4400" dirty="0"/>
          </a:p>
        </p:txBody>
      </p:sp>
      <p:sp>
        <p:nvSpPr>
          <p:cNvPr id="6" name="anim-fade-t0"/>
          <p:cNvSpPr txBox="1"/>
          <p:nvPr/>
        </p:nvSpPr>
        <p:spPr>
          <a:xfrm>
            <a:off x="6309360" y="23957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600" b="1" dirty="0">
                <a:solidFill>
                  <a:srgbClr val="2B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الترجمة</a:t>
            </a:r>
            <a:endParaRPr lang="ar-SA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29077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700" dirty="0">
                <a:solidFill>
                  <a:srgbClr val="7A6F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إشارتك تصير جملة مسموعة</a:t>
            </a:r>
            <a:endParaRPr lang="ar-SA" sz="1700" dirty="0"/>
          </a:p>
        </p:txBody>
      </p:sp>
      <p:sp>
        <p:nvSpPr>
          <p:cNvPr id="8" name="anim-fade-l1"/>
          <p:cNvSpPr/>
          <p:nvPr/>
        </p:nvSpPr>
        <p:spPr>
          <a:xfrm>
            <a:off x="6309360" y="3547872"/>
            <a:ext cx="5029200" cy="0"/>
          </a:xfrm>
          <a:prstGeom prst="line">
            <a:avLst/>
          </a:prstGeom>
          <a:noFill/>
          <a:ln w="15875">
            <a:solidFill>
              <a:srgbClr val="D9CBB2"/>
            </a:solidFill>
            <a:prstDash val="solid"/>
          </a:ln>
        </p:spPr>
      </p:sp>
      <p:sp>
        <p:nvSpPr>
          <p:cNvPr id="9" name="anim-fade-n1"/>
          <p:cNvSpPr txBox="1"/>
          <p:nvPr/>
        </p:nvSpPr>
        <p:spPr>
          <a:xfrm>
            <a:off x="10607040" y="365760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4400" b="1" dirty="0">
                <a:solidFill>
                  <a:srgbClr val="E88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ar-SA" sz="4400" dirty="0"/>
          </a:p>
        </p:txBody>
      </p:sp>
      <p:sp>
        <p:nvSpPr>
          <p:cNvPr id="10" name="anim-fade-t1"/>
          <p:cNvSpPr txBox="1"/>
          <p:nvPr/>
        </p:nvSpPr>
        <p:spPr>
          <a:xfrm>
            <a:off x="6309360" y="367588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600" b="1" dirty="0">
                <a:solidFill>
                  <a:srgbClr val="2B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الاستماع</a:t>
            </a:r>
            <a:endParaRPr lang="ar-SA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418795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700" dirty="0">
                <a:solidFill>
                  <a:srgbClr val="7A6F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كلامك يصير إشارة</a:t>
            </a:r>
            <a:endParaRPr lang="ar-SA" sz="1700" dirty="0"/>
          </a:p>
        </p:txBody>
      </p:sp>
      <p:sp>
        <p:nvSpPr>
          <p:cNvPr id="12" name="anim-fade-l2"/>
          <p:cNvSpPr/>
          <p:nvPr/>
        </p:nvSpPr>
        <p:spPr>
          <a:xfrm>
            <a:off x="6309360" y="4828032"/>
            <a:ext cx="5029200" cy="0"/>
          </a:xfrm>
          <a:prstGeom prst="line">
            <a:avLst/>
          </a:prstGeom>
          <a:noFill/>
          <a:ln w="15875">
            <a:solidFill>
              <a:srgbClr val="D9CBB2"/>
            </a:solidFill>
            <a:prstDash val="solid"/>
          </a:ln>
        </p:spPr>
      </p:sp>
      <p:sp>
        <p:nvSpPr>
          <p:cNvPr id="13" name="anim-fade-n2"/>
          <p:cNvSpPr txBox="1"/>
          <p:nvPr/>
        </p:nvSpPr>
        <p:spPr>
          <a:xfrm>
            <a:off x="10607040" y="493776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4400" b="1" dirty="0">
                <a:solidFill>
                  <a:srgbClr val="E88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ar-SA" sz="4400" dirty="0"/>
          </a:p>
        </p:txBody>
      </p:sp>
      <p:sp>
        <p:nvSpPr>
          <p:cNvPr id="14" name="anim-fade-t2"/>
          <p:cNvSpPr txBox="1"/>
          <p:nvPr/>
        </p:nvSpPr>
        <p:spPr>
          <a:xfrm>
            <a:off x="6309360" y="495604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600" b="1" dirty="0">
                <a:solidFill>
                  <a:srgbClr val="2B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الدروس</a:t>
            </a:r>
            <a:endParaRPr lang="ar-SA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546811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700" dirty="0">
                <a:solidFill>
                  <a:srgbClr val="7A6F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الحروف على مراحل</a:t>
            </a:r>
            <a:endParaRPr lang="ar-SA" sz="1700" dirty="0"/>
          </a:p>
        </p:txBody>
      </p:sp>
      <p:sp>
        <p:nvSpPr>
          <p:cNvPr id="16" name="anim-fade-l3"/>
          <p:cNvSpPr/>
          <p:nvPr/>
        </p:nvSpPr>
        <p:spPr>
          <a:xfrm>
            <a:off x="822960" y="2267712"/>
            <a:ext cx="5029200" cy="0"/>
          </a:xfrm>
          <a:prstGeom prst="line">
            <a:avLst/>
          </a:prstGeom>
          <a:noFill/>
          <a:ln w="15875">
            <a:solidFill>
              <a:srgbClr val="D9CBB2"/>
            </a:solidFill>
            <a:prstDash val="solid"/>
          </a:ln>
        </p:spPr>
      </p:sp>
      <p:sp>
        <p:nvSpPr>
          <p:cNvPr id="17" name="anim-fade-n3"/>
          <p:cNvSpPr txBox="1"/>
          <p:nvPr/>
        </p:nvSpPr>
        <p:spPr>
          <a:xfrm>
            <a:off x="5120640" y="23774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4400" b="1" dirty="0">
                <a:solidFill>
                  <a:srgbClr val="E88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ar-SA" sz="4400" dirty="0"/>
          </a:p>
        </p:txBody>
      </p:sp>
      <p:sp>
        <p:nvSpPr>
          <p:cNvPr id="18" name="anim-fade-t3"/>
          <p:cNvSpPr txBox="1"/>
          <p:nvPr/>
        </p:nvSpPr>
        <p:spPr>
          <a:xfrm>
            <a:off x="822960" y="23957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600" b="1" dirty="0">
                <a:solidFill>
                  <a:srgbClr val="2B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درّب أهلك</a:t>
            </a:r>
            <a:endParaRPr lang="ar-SA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29077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700" dirty="0">
                <a:solidFill>
                  <a:srgbClr val="7A6F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لعبة صغيرة للأهل والزملاء</a:t>
            </a:r>
            <a:endParaRPr lang="ar-SA" sz="1700" dirty="0"/>
          </a:p>
        </p:txBody>
      </p:sp>
      <p:sp>
        <p:nvSpPr>
          <p:cNvPr id="20" name="anim-fade-l4"/>
          <p:cNvSpPr/>
          <p:nvPr/>
        </p:nvSpPr>
        <p:spPr>
          <a:xfrm>
            <a:off x="822960" y="3547872"/>
            <a:ext cx="5029200" cy="0"/>
          </a:xfrm>
          <a:prstGeom prst="line">
            <a:avLst/>
          </a:prstGeom>
          <a:noFill/>
          <a:ln w="15875">
            <a:solidFill>
              <a:srgbClr val="D9CBB2"/>
            </a:solidFill>
            <a:prstDash val="solid"/>
          </a:ln>
        </p:spPr>
      </p:sp>
      <p:sp>
        <p:nvSpPr>
          <p:cNvPr id="21" name="anim-fade-n4"/>
          <p:cNvSpPr txBox="1"/>
          <p:nvPr/>
        </p:nvSpPr>
        <p:spPr>
          <a:xfrm>
            <a:off x="5120640" y="365760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4400" b="1" dirty="0">
                <a:solidFill>
                  <a:srgbClr val="E88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ar-SA" sz="4400" dirty="0"/>
          </a:p>
        </p:txBody>
      </p:sp>
      <p:sp>
        <p:nvSpPr>
          <p:cNvPr id="22" name="anim-fade-t4"/>
          <p:cNvSpPr txBox="1"/>
          <p:nvPr/>
        </p:nvSpPr>
        <p:spPr>
          <a:xfrm>
            <a:off x="822960" y="367588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600" b="1" dirty="0">
                <a:solidFill>
                  <a:srgbClr val="2B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قاموسي</a:t>
            </a:r>
            <a:endParaRPr lang="ar-SA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18795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700" dirty="0">
                <a:solidFill>
                  <a:srgbClr val="7A6F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إشاراتك أنت</a:t>
            </a:r>
            <a:endParaRPr lang="ar-SA" sz="1700" dirty="0"/>
          </a:p>
        </p:txBody>
      </p:sp>
      <p:sp>
        <p:nvSpPr>
          <p:cNvPr id="24" name="anim-fade-l5"/>
          <p:cNvSpPr/>
          <p:nvPr/>
        </p:nvSpPr>
        <p:spPr>
          <a:xfrm>
            <a:off x="822960" y="4828032"/>
            <a:ext cx="5029200" cy="0"/>
          </a:xfrm>
          <a:prstGeom prst="line">
            <a:avLst/>
          </a:prstGeom>
          <a:noFill/>
          <a:ln w="15875">
            <a:solidFill>
              <a:srgbClr val="D9CBB2"/>
            </a:solidFill>
            <a:prstDash val="solid"/>
          </a:ln>
        </p:spPr>
      </p:sp>
      <p:sp>
        <p:nvSpPr>
          <p:cNvPr id="25" name="anim-fade-n5"/>
          <p:cNvSpPr txBox="1"/>
          <p:nvPr/>
        </p:nvSpPr>
        <p:spPr>
          <a:xfrm>
            <a:off x="5120640" y="493776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4400" b="1" dirty="0">
                <a:solidFill>
                  <a:srgbClr val="E88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ar-SA" sz="4400" dirty="0"/>
          </a:p>
        </p:txBody>
      </p:sp>
      <p:sp>
        <p:nvSpPr>
          <p:cNvPr id="26" name="anim-fade-t5"/>
          <p:cNvSpPr txBox="1"/>
          <p:nvPr/>
        </p:nvSpPr>
        <p:spPr>
          <a:xfrm>
            <a:off x="822960" y="495604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600" b="1" dirty="0">
                <a:solidFill>
                  <a:srgbClr val="2B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الأوامر</a:t>
            </a:r>
            <a:endParaRPr lang="ar-SA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546811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700" dirty="0">
                <a:solidFill>
                  <a:srgbClr val="7A6F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إشارة تتحكم بها في ما حولك</a:t>
            </a:r>
            <a:endParaRPr lang="ar-SA" sz="1700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repeatCount="indefinite" autoRev="1" fill="hold" grpId="0" nodeType="withEffect">
                                  <p:stCondLst>
                                    <p:cond delay="11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011 0 E" pathEditMode="relative" rAng="0" ptsTypes="AA">
                                      <p:cBhvr>
                                        <p:cTn id="12" dur="1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94960" y="37490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ar-SA" sz="23000" b="1" dirty="0">
                <a:solidFill>
                  <a:srgbClr val="EFE2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ar-SA" sz="23000" dirty="0"/>
          </a:p>
        </p:txBody>
      </p:sp>
      <p:sp>
        <p:nvSpPr>
          <p:cNvPr id="3" name="anim-fade-shf"/>
          <p:cNvSpPr/>
          <p:nvPr/>
        </p:nvSpPr>
        <p:spPr>
          <a:xfrm rot="-132000">
            <a:off x="822960" y="913059"/>
            <a:ext cx="4480560" cy="5123322"/>
          </a:xfrm>
          <a:prstGeom prst="rect">
            <a:avLst/>
          </a:prstGeom>
          <a:solidFill>
            <a:srgbClr val="FFFFFF"/>
          </a:solidFill>
          <a:ln w="9525">
            <a:solidFill>
              <a:srgbClr val="E4D8C2"/>
            </a:solidFill>
            <a:prstDash val="solid"/>
          </a:ln>
          <a:effectLst>
            <a:outerShdw sx="100000" sy="100000" kx="0" ky="0" algn="bl" rotWithShape="0" blurRad="127000" dist="50800" dir="4200000">
              <a:srgbClr val="5A4630">
                <a:alpha val="22000"/>
              </a:srgbClr>
            </a:outerShdw>
          </a:effectLst>
        </p:spPr>
      </p:sp>
      <p:pic>
        <p:nvPicPr>
          <p:cNvPr id="4" name="anim-zoom-sh" descr="/home/claude/assets/shot_transl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32000">
            <a:off x="914400" y="1004499"/>
            <a:ext cx="4297680" cy="4940442"/>
          </a:xfrm>
          <a:prstGeom prst="rect">
            <a:avLst/>
          </a:prstGeom>
        </p:spPr>
      </p:pic>
      <p:sp>
        <p:nvSpPr>
          <p:cNvPr id="5" name="anim-wipe-title"/>
          <p:cNvSpPr txBox="1"/>
          <p:nvPr/>
        </p:nvSpPr>
        <p:spPr>
          <a:xfrm>
            <a:off x="5943600" y="731520"/>
            <a:ext cx="5440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4800" b="1" dirty="0">
                <a:solidFill>
                  <a:srgbClr val="0F3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الترجمة</a:t>
            </a:r>
            <a:endParaRPr lang="ar-SA" sz="4800" dirty="0"/>
          </a:p>
        </p:txBody>
      </p:sp>
      <p:sp>
        <p:nvSpPr>
          <p:cNvPr id="6" name="anim-wipe-sq"/>
          <p:cNvSpPr/>
          <p:nvPr/>
        </p:nvSpPr>
        <p:spPr>
          <a:xfrm>
            <a:off x="9006840" y="1737360"/>
            <a:ext cx="2377440" cy="128016"/>
          </a:xfrm>
          <a:custGeom>
            <a:avLst/>
            <a:gdLst/>
            <a:ahLst/>
            <a:cxnLst/>
            <a:rect l="l" t="t" r="r" b="b"/>
            <a:pathLst>
              <a:path w="2377440" h="128016">
                <a:moveTo>
                  <a:pt x="0" y="73152"/>
                </a:moveTo>
                <a:cubicBezTo>
                  <a:pt x="118872" y="109728"/>
                  <a:pt x="277368" y="0"/>
                  <a:pt x="423672" y="18288"/>
                </a:cubicBezTo>
                <a:cubicBezTo>
                  <a:pt x="515112" y="18288"/>
                  <a:pt x="673608" y="137160"/>
                  <a:pt x="847344" y="109728"/>
                </a:cubicBezTo>
                <a:cubicBezTo>
                  <a:pt x="911352" y="109728"/>
                  <a:pt x="1069848" y="0"/>
                  <a:pt x="1188720" y="18288"/>
                </a:cubicBezTo>
                <a:cubicBezTo>
                  <a:pt x="1307592" y="18288"/>
                  <a:pt x="1466088" y="137160"/>
                  <a:pt x="1612392" y="109728"/>
                </a:cubicBezTo>
                <a:cubicBezTo>
                  <a:pt x="1703832" y="109728"/>
                  <a:pt x="1862328" y="0"/>
                  <a:pt x="2036064" y="18288"/>
                </a:cubicBezTo>
                <a:cubicBezTo>
                  <a:pt x="2100072" y="18288"/>
                  <a:pt x="2258568" y="137160"/>
                  <a:pt x="2377440" y="54864"/>
                </a:cubicBezTo>
              </a:path>
            </a:pathLst>
          </a:custGeom>
          <a:ln w="44450">
            <a:solidFill>
              <a:srgbClr val="E8801A"/>
            </a:solidFill>
            <a:prstDash val="solid"/>
          </a:ln>
        </p:spPr>
      </p:sp>
      <p:sp>
        <p:nvSpPr>
          <p:cNvPr id="7" name="anim-fade-body"/>
          <p:cNvSpPr txBox="1"/>
          <p:nvPr/>
        </p:nvSpPr>
        <p:spPr>
          <a:xfrm>
            <a:off x="5943600" y="2286000"/>
            <a:ext cx="5440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5000"/>
              </a:lnSpc>
              <a:spcAft>
                <a:spcPts val="1400"/>
              </a:spcAft>
              <a:buNone/>
            </a:pPr>
            <a:r>
              <a:rPr lang="ar-SA" sz="2000" dirty="0">
                <a:solidFill>
                  <a:srgbClr val="2B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تفتح الكاميرا وتشير بيدك، فتظهر الكلمات واحدة بعد أخرى في شريط أسفل الشاشة حتى تكتمل الجملة.</a:t>
            </a:r>
            <a:endParaRPr lang="ar-SA" sz="2000" dirty="0"/>
          </a:p>
          <a:p>
            <a:pPr rtl="1" algn="r" indent="0" marL="0">
              <a:lnSpc>
                <a:spcPct val="145000"/>
              </a:lnSpc>
              <a:spcAft>
                <a:spcPts val="1400"/>
              </a:spcAft>
              <a:buNone/>
            </a:pPr>
            <a:r>
              <a:rPr lang="ar-SA" sz="2000" dirty="0">
                <a:solidFill>
                  <a:srgbClr val="2B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ثم تضغط «انطق الجملة» فتُسمع بصوت عالٍ. وفي الشريط أزرار للمسح والتراجع والمشاركة والمفضلة.</a:t>
            </a:r>
            <a:endParaRPr lang="ar-SA" sz="2000" dirty="0"/>
          </a:p>
        </p:txBody>
      </p:sp>
      <p:sp>
        <p:nvSpPr>
          <p:cNvPr id="8" name="anim-fade-note"/>
          <p:cNvSpPr txBox="1"/>
          <p:nvPr/>
        </p:nvSpPr>
        <p:spPr>
          <a:xfrm>
            <a:off x="5943600" y="5440680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ar-SA" sz="1600" i="1" dirty="0">
                <a:solidFill>
                  <a:srgbClr val="9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المعالجة كلها داخل هاتفك، ولا فيديو يُرسل إلى أي مكان.</a:t>
            </a:r>
            <a:endParaRPr lang="ar-SA" sz="16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repeatCount="indefinite" autoRev="1" fill="hold" grpId="0" nodeType="withEffect">
                                  <p:stCondLst>
                                    <p:cond delay="11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011 0 E" pathEditMode="relative" rAng="0" ptsTypes="AA">
                                      <p:cBhvr>
                                        <p:cTn id="12" dur="1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9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9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9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9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0" presetClass="path" presetSubtype="0" accel="50000" decel="50000" repeatCount="indefinite" autoRev="1" fill="hold" grpId="0" nodeType="withEffect">
                                  <p:stCondLst>
                                    <p:cond delay="9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 -0.014 E" pathEditMode="relative" rAng="0" ptsTypes="AA">
                                      <p:cBhvr>
                                        <p:cTn id="29" dur="1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0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0" presetClass="path" presetSubtype="0" accel="50000" decel="50000" repeatCount="indefinite" autoRev="1" fill="hold" nodeType="withEffect">
                                  <p:stCondLst>
                                    <p:cond delay="9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 -0.014 E" pathEditMode="relative" rAng="0" ptsTypes="AA">
                                      <p:cBhvr>
                                        <p:cTn id="31" dur="1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2" grpId="0" animBg="1"/>
      <p:bldP spid="3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337560" y="37490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ar-SA" sz="23000" b="1" dirty="0">
                <a:solidFill>
                  <a:srgbClr val="EFE2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ar-SA" sz="23000" dirty="0"/>
          </a:p>
        </p:txBody>
      </p:sp>
      <p:sp>
        <p:nvSpPr>
          <p:cNvPr id="3" name="anim-fade-shf"/>
          <p:cNvSpPr/>
          <p:nvPr/>
        </p:nvSpPr>
        <p:spPr>
          <a:xfrm rot="108000">
            <a:off x="6888175" y="913059"/>
            <a:ext cx="4480560" cy="5123322"/>
          </a:xfrm>
          <a:prstGeom prst="rect">
            <a:avLst/>
          </a:prstGeom>
          <a:solidFill>
            <a:srgbClr val="FFFFFF"/>
          </a:solidFill>
          <a:ln w="9525">
            <a:solidFill>
              <a:srgbClr val="E4D8C2"/>
            </a:solidFill>
            <a:prstDash val="solid"/>
          </a:ln>
          <a:effectLst>
            <a:outerShdw sx="100000" sy="100000" kx="0" ky="0" algn="bl" rotWithShape="0" blurRad="127000" dist="50800" dir="4200000">
              <a:srgbClr val="5A4630">
                <a:alpha val="22000"/>
              </a:srgbClr>
            </a:outerShdw>
          </a:effectLst>
        </p:spPr>
      </p:sp>
      <p:pic>
        <p:nvPicPr>
          <p:cNvPr id="4" name="anim-zoom-sh" descr="/home/claude/assets/shot_list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">
            <a:off x="6979615" y="1004499"/>
            <a:ext cx="4297680" cy="4940442"/>
          </a:xfrm>
          <a:prstGeom prst="rect">
            <a:avLst/>
          </a:prstGeom>
        </p:spPr>
      </p:pic>
      <p:sp>
        <p:nvSpPr>
          <p:cNvPr id="5" name="anim-wipe-title"/>
          <p:cNvSpPr txBox="1"/>
          <p:nvPr/>
        </p:nvSpPr>
        <p:spPr>
          <a:xfrm>
            <a:off x="822960" y="731520"/>
            <a:ext cx="5440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4800" b="1" dirty="0">
                <a:solidFill>
                  <a:srgbClr val="0F3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الاستماع</a:t>
            </a:r>
            <a:endParaRPr lang="ar-SA" sz="4800" dirty="0"/>
          </a:p>
        </p:txBody>
      </p:sp>
      <p:sp>
        <p:nvSpPr>
          <p:cNvPr id="6" name="anim-wipe-sq"/>
          <p:cNvSpPr/>
          <p:nvPr/>
        </p:nvSpPr>
        <p:spPr>
          <a:xfrm>
            <a:off x="3886200" y="1737360"/>
            <a:ext cx="2377440" cy="128016"/>
          </a:xfrm>
          <a:custGeom>
            <a:avLst/>
            <a:gdLst/>
            <a:ahLst/>
            <a:cxnLst/>
            <a:rect l="l" t="t" r="r" b="b"/>
            <a:pathLst>
              <a:path w="2377440" h="128016">
                <a:moveTo>
                  <a:pt x="0" y="73152"/>
                </a:moveTo>
                <a:cubicBezTo>
                  <a:pt x="118872" y="109728"/>
                  <a:pt x="277368" y="0"/>
                  <a:pt x="423672" y="18288"/>
                </a:cubicBezTo>
                <a:cubicBezTo>
                  <a:pt x="515112" y="18288"/>
                  <a:pt x="673608" y="137160"/>
                  <a:pt x="847344" y="109728"/>
                </a:cubicBezTo>
                <a:cubicBezTo>
                  <a:pt x="911352" y="109728"/>
                  <a:pt x="1069848" y="0"/>
                  <a:pt x="1188720" y="18288"/>
                </a:cubicBezTo>
                <a:cubicBezTo>
                  <a:pt x="1307592" y="18288"/>
                  <a:pt x="1466088" y="137160"/>
                  <a:pt x="1612392" y="109728"/>
                </a:cubicBezTo>
                <a:cubicBezTo>
                  <a:pt x="1703832" y="109728"/>
                  <a:pt x="1862328" y="0"/>
                  <a:pt x="2036064" y="18288"/>
                </a:cubicBezTo>
                <a:cubicBezTo>
                  <a:pt x="2100072" y="18288"/>
                  <a:pt x="2258568" y="137160"/>
                  <a:pt x="2377440" y="54864"/>
                </a:cubicBezTo>
              </a:path>
            </a:pathLst>
          </a:custGeom>
          <a:ln w="44450">
            <a:solidFill>
              <a:srgbClr val="E8801A"/>
            </a:solidFill>
            <a:prstDash val="solid"/>
          </a:ln>
        </p:spPr>
      </p:sp>
      <p:sp>
        <p:nvSpPr>
          <p:cNvPr id="7" name="anim-fade-body"/>
          <p:cNvSpPr txBox="1"/>
          <p:nvPr/>
        </p:nvSpPr>
        <p:spPr>
          <a:xfrm>
            <a:off x="822960" y="2286000"/>
            <a:ext cx="5440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5000"/>
              </a:lnSpc>
              <a:spcAft>
                <a:spcPts val="1400"/>
              </a:spcAft>
              <a:buNone/>
            </a:pPr>
            <a:r>
              <a:rPr lang="ar-SA" sz="2000" dirty="0">
                <a:solidFill>
                  <a:srgbClr val="2B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كلمة أو قلها في الميكروفون، فترسمها على الشاشة يد صغيرة بالإشارة المناسبة.</a:t>
            </a:r>
            <a:endParaRPr lang="ar-SA" sz="2000" dirty="0"/>
          </a:p>
          <a:p>
            <a:pPr rtl="1" algn="r" indent="0" marL="0">
              <a:lnSpc>
                <a:spcPct val="145000"/>
              </a:lnSpc>
              <a:spcAft>
                <a:spcPts val="1400"/>
              </a:spcAft>
              <a:buNone/>
            </a:pPr>
            <a:r>
              <a:rPr lang="ar-SA" sz="2000" dirty="0">
                <a:solidFill>
                  <a:srgbClr val="2B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والإشارة المرسومة ليست من مكتبة جاهزة، بل من النقاط نفسها التي سجّلتها أنت في قاموسك.</a:t>
            </a:r>
            <a:endParaRPr lang="ar-SA" sz="2000" dirty="0"/>
          </a:p>
        </p:txBody>
      </p:sp>
      <p:sp>
        <p:nvSpPr>
          <p:cNvPr id="8" name="anim-fade-note"/>
          <p:cNvSpPr txBox="1"/>
          <p:nvPr/>
        </p:nvSpPr>
        <p:spPr>
          <a:xfrm>
            <a:off x="822960" y="5440680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ar-SA" sz="1600" i="1" dirty="0">
                <a:solidFill>
                  <a:srgbClr val="9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كلما أضفت إلى قاموسك زاد ما تستطيع اليد رسمه.</a:t>
            </a:r>
            <a:endParaRPr lang="ar-SA" sz="16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repeatCount="indefinite" autoRev="1" fill="hold" grpId="0" nodeType="withEffect">
                                  <p:stCondLst>
                                    <p:cond delay="11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011 0 E" pathEditMode="relative" rAng="0" ptsTypes="AA">
                                      <p:cBhvr>
                                        <p:cTn id="12" dur="1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9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9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9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9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0" presetClass="path" presetSubtype="0" accel="50000" decel="50000" repeatCount="indefinite" autoRev="1" fill="hold" grpId="0" nodeType="withEffect">
                                  <p:stCondLst>
                                    <p:cond delay="9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 -0.014 E" pathEditMode="relative" rAng="0" ptsTypes="AA">
                                      <p:cBhvr>
                                        <p:cTn id="29" dur="1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0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0" presetClass="path" presetSubtype="0" accel="50000" decel="50000" repeatCount="indefinite" autoRev="1" fill="hold" nodeType="withEffect">
                                  <p:stCondLst>
                                    <p:cond delay="9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 -0.014 E" pathEditMode="relative" rAng="0" ptsTypes="AA">
                                      <p:cBhvr>
                                        <p:cTn id="31" dur="1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2" grpId="0" animBg="1"/>
      <p:bldP spid="3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94960" y="37490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ar-SA" sz="23000" b="1" dirty="0">
                <a:solidFill>
                  <a:srgbClr val="EFE2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ar-SA" sz="23000" dirty="0"/>
          </a:p>
        </p:txBody>
      </p:sp>
      <p:sp>
        <p:nvSpPr>
          <p:cNvPr id="3" name="anim-fade-shf"/>
          <p:cNvSpPr/>
          <p:nvPr/>
        </p:nvSpPr>
        <p:spPr>
          <a:xfrm rot="-132000">
            <a:off x="822960" y="913059"/>
            <a:ext cx="4480560" cy="5123322"/>
          </a:xfrm>
          <a:prstGeom prst="rect">
            <a:avLst/>
          </a:prstGeom>
          <a:solidFill>
            <a:srgbClr val="FFFFFF"/>
          </a:solidFill>
          <a:ln w="9525">
            <a:solidFill>
              <a:srgbClr val="E4D8C2"/>
            </a:solidFill>
            <a:prstDash val="solid"/>
          </a:ln>
          <a:effectLst>
            <a:outerShdw sx="100000" sy="100000" kx="0" ky="0" algn="bl" rotWithShape="0" blurRad="127000" dist="50800" dir="4200000">
              <a:srgbClr val="5A4630">
                <a:alpha val="22000"/>
              </a:srgbClr>
            </a:outerShdw>
          </a:effectLst>
        </p:spPr>
      </p:sp>
      <p:pic>
        <p:nvPicPr>
          <p:cNvPr id="4" name="anim-zoom-sh" descr="/home/claude/assets/shot_lesso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32000">
            <a:off x="914400" y="1004499"/>
            <a:ext cx="4297680" cy="4940442"/>
          </a:xfrm>
          <a:prstGeom prst="rect">
            <a:avLst/>
          </a:prstGeom>
        </p:spPr>
      </p:pic>
      <p:sp>
        <p:nvSpPr>
          <p:cNvPr id="5" name="anim-wipe-title"/>
          <p:cNvSpPr txBox="1"/>
          <p:nvPr/>
        </p:nvSpPr>
        <p:spPr>
          <a:xfrm>
            <a:off x="5943600" y="731520"/>
            <a:ext cx="5440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4800" b="1" dirty="0">
                <a:solidFill>
                  <a:srgbClr val="0F3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الدروس</a:t>
            </a:r>
            <a:endParaRPr lang="ar-SA" sz="4800" dirty="0"/>
          </a:p>
        </p:txBody>
      </p:sp>
      <p:sp>
        <p:nvSpPr>
          <p:cNvPr id="6" name="anim-wipe-sq"/>
          <p:cNvSpPr/>
          <p:nvPr/>
        </p:nvSpPr>
        <p:spPr>
          <a:xfrm>
            <a:off x="9006840" y="1737360"/>
            <a:ext cx="2377440" cy="128016"/>
          </a:xfrm>
          <a:custGeom>
            <a:avLst/>
            <a:gdLst/>
            <a:ahLst/>
            <a:cxnLst/>
            <a:rect l="l" t="t" r="r" b="b"/>
            <a:pathLst>
              <a:path w="2377440" h="128016">
                <a:moveTo>
                  <a:pt x="0" y="73152"/>
                </a:moveTo>
                <a:cubicBezTo>
                  <a:pt x="118872" y="109728"/>
                  <a:pt x="277368" y="0"/>
                  <a:pt x="423672" y="18288"/>
                </a:cubicBezTo>
                <a:cubicBezTo>
                  <a:pt x="515112" y="18288"/>
                  <a:pt x="673608" y="137160"/>
                  <a:pt x="847344" y="109728"/>
                </a:cubicBezTo>
                <a:cubicBezTo>
                  <a:pt x="911352" y="109728"/>
                  <a:pt x="1069848" y="0"/>
                  <a:pt x="1188720" y="18288"/>
                </a:cubicBezTo>
                <a:cubicBezTo>
                  <a:pt x="1307592" y="18288"/>
                  <a:pt x="1466088" y="137160"/>
                  <a:pt x="1612392" y="109728"/>
                </a:cubicBezTo>
                <a:cubicBezTo>
                  <a:pt x="1703832" y="109728"/>
                  <a:pt x="1862328" y="0"/>
                  <a:pt x="2036064" y="18288"/>
                </a:cubicBezTo>
                <a:cubicBezTo>
                  <a:pt x="2100072" y="18288"/>
                  <a:pt x="2258568" y="137160"/>
                  <a:pt x="2377440" y="54864"/>
                </a:cubicBezTo>
              </a:path>
            </a:pathLst>
          </a:custGeom>
          <a:ln w="44450">
            <a:solidFill>
              <a:srgbClr val="E8801A"/>
            </a:solidFill>
            <a:prstDash val="solid"/>
          </a:ln>
        </p:spPr>
      </p:sp>
      <p:sp>
        <p:nvSpPr>
          <p:cNvPr id="7" name="anim-fade-body"/>
          <p:cNvSpPr txBox="1"/>
          <p:nvPr/>
        </p:nvSpPr>
        <p:spPr>
          <a:xfrm>
            <a:off x="5943600" y="2286000"/>
            <a:ext cx="5440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5000"/>
              </a:lnSpc>
              <a:spcAft>
                <a:spcPts val="1400"/>
              </a:spcAft>
              <a:buNone/>
            </a:pPr>
            <a:r>
              <a:rPr lang="ar-SA" sz="2000" dirty="0">
                <a:solidFill>
                  <a:srgbClr val="2B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الدروس تمشي مع الأبجدية على وحدات. أول درس عن طريقة التواصل نفسها قبل أن تحفظ أي إشارة، ثم تبدأ الحروف: أول سبعة، ثم أربعة، ثم وحدة ثالثة.</a:t>
            </a:r>
            <a:endParaRPr lang="ar-SA" sz="2000" dirty="0"/>
          </a:p>
          <a:p>
            <a:pPr rtl="1" algn="r" indent="0" marL="0">
              <a:lnSpc>
                <a:spcPct val="145000"/>
              </a:lnSpc>
              <a:spcAft>
                <a:spcPts val="1400"/>
              </a:spcAft>
              <a:buNone/>
            </a:pPr>
            <a:r>
              <a:rPr lang="ar-SA" sz="2000" dirty="0">
                <a:solidFill>
                  <a:srgbClr val="2B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تسجّل كل حرف كما تؤديه، وتجد في الوحدات تحدياً أمام الكاميرا. ولكل درس زر «افتح» وشريط يبيّن كم أنجزت.</a:t>
            </a:r>
            <a:endParaRPr lang="ar-SA" sz="2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repeatCount="indefinite" autoRev="1" fill="hold" grpId="0" nodeType="withEffect">
                                  <p:stCondLst>
                                    <p:cond delay="11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011 0 E" pathEditMode="relative" rAng="0" ptsTypes="AA">
                                      <p:cBhvr>
                                        <p:cTn id="12" dur="1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9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9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9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9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0" presetClass="path" presetSubtype="0" accel="50000" decel="50000" repeatCount="indefinite" autoRev="1" fill="hold" grpId="0" nodeType="withEffect">
                                  <p:stCondLst>
                                    <p:cond delay="9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 -0.014 E" pathEditMode="relative" rAng="0" ptsTypes="AA">
                                      <p:cBhvr>
                                        <p:cTn id="29" dur="1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0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0" presetClass="path" presetSubtype="0" accel="50000" decel="50000" repeatCount="indefinite" autoRev="1" fill="hold" nodeType="withEffect">
                                  <p:stCondLst>
                                    <p:cond delay="9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 -0.014 E" pathEditMode="relative" rAng="0" ptsTypes="AA">
                                      <p:cBhvr>
                                        <p:cTn id="31" dur="1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2" grpId="0" animBg="1"/>
      <p:bldP spid="3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337560" y="37490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ar-SA" sz="23000" b="1" dirty="0">
                <a:solidFill>
                  <a:srgbClr val="EFE2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ar-SA" sz="23000" dirty="0"/>
          </a:p>
        </p:txBody>
      </p:sp>
      <p:sp>
        <p:nvSpPr>
          <p:cNvPr id="3" name="anim-fade-shf"/>
          <p:cNvSpPr/>
          <p:nvPr/>
        </p:nvSpPr>
        <p:spPr>
          <a:xfrm rot="108000">
            <a:off x="6888175" y="913059"/>
            <a:ext cx="4480560" cy="5123322"/>
          </a:xfrm>
          <a:prstGeom prst="rect">
            <a:avLst/>
          </a:prstGeom>
          <a:solidFill>
            <a:srgbClr val="FFFFFF"/>
          </a:solidFill>
          <a:ln w="9525">
            <a:solidFill>
              <a:srgbClr val="E4D8C2"/>
            </a:solidFill>
            <a:prstDash val="solid"/>
          </a:ln>
          <a:effectLst>
            <a:outerShdw sx="100000" sy="100000" kx="0" ky="0" algn="bl" rotWithShape="0" blurRad="127000" dist="50800" dir="4200000">
              <a:srgbClr val="5A4630">
                <a:alpha val="22000"/>
              </a:srgbClr>
            </a:outerShdw>
          </a:effectLst>
        </p:spPr>
      </p:sp>
      <p:pic>
        <p:nvPicPr>
          <p:cNvPr id="4" name="anim-zoom-sh" descr="/home/claude/assets/shot_famil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">
            <a:off x="6979615" y="1004499"/>
            <a:ext cx="4297680" cy="4940442"/>
          </a:xfrm>
          <a:prstGeom prst="rect">
            <a:avLst/>
          </a:prstGeom>
        </p:spPr>
      </p:pic>
      <p:sp>
        <p:nvSpPr>
          <p:cNvPr id="5" name="anim-wipe-title"/>
          <p:cNvSpPr txBox="1"/>
          <p:nvPr/>
        </p:nvSpPr>
        <p:spPr>
          <a:xfrm>
            <a:off x="822960" y="731520"/>
            <a:ext cx="5440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4800" b="1" dirty="0">
                <a:solidFill>
                  <a:srgbClr val="0F3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درّب أهلك</a:t>
            </a:r>
            <a:endParaRPr lang="ar-SA" sz="4800" dirty="0"/>
          </a:p>
        </p:txBody>
      </p:sp>
      <p:sp>
        <p:nvSpPr>
          <p:cNvPr id="6" name="anim-wipe-sq"/>
          <p:cNvSpPr/>
          <p:nvPr/>
        </p:nvSpPr>
        <p:spPr>
          <a:xfrm>
            <a:off x="3886200" y="1737360"/>
            <a:ext cx="2377440" cy="128016"/>
          </a:xfrm>
          <a:custGeom>
            <a:avLst/>
            <a:gdLst/>
            <a:ahLst/>
            <a:cxnLst/>
            <a:rect l="l" t="t" r="r" b="b"/>
            <a:pathLst>
              <a:path w="2377440" h="128016">
                <a:moveTo>
                  <a:pt x="0" y="73152"/>
                </a:moveTo>
                <a:cubicBezTo>
                  <a:pt x="118872" y="109728"/>
                  <a:pt x="277368" y="0"/>
                  <a:pt x="423672" y="18288"/>
                </a:cubicBezTo>
                <a:cubicBezTo>
                  <a:pt x="515112" y="18288"/>
                  <a:pt x="673608" y="137160"/>
                  <a:pt x="847344" y="109728"/>
                </a:cubicBezTo>
                <a:cubicBezTo>
                  <a:pt x="911352" y="109728"/>
                  <a:pt x="1069848" y="0"/>
                  <a:pt x="1188720" y="18288"/>
                </a:cubicBezTo>
                <a:cubicBezTo>
                  <a:pt x="1307592" y="18288"/>
                  <a:pt x="1466088" y="137160"/>
                  <a:pt x="1612392" y="109728"/>
                </a:cubicBezTo>
                <a:cubicBezTo>
                  <a:pt x="1703832" y="109728"/>
                  <a:pt x="1862328" y="0"/>
                  <a:pt x="2036064" y="18288"/>
                </a:cubicBezTo>
                <a:cubicBezTo>
                  <a:pt x="2100072" y="18288"/>
                  <a:pt x="2258568" y="137160"/>
                  <a:pt x="2377440" y="54864"/>
                </a:cubicBezTo>
              </a:path>
            </a:pathLst>
          </a:custGeom>
          <a:ln w="44450">
            <a:solidFill>
              <a:srgbClr val="E8801A"/>
            </a:solidFill>
            <a:prstDash val="solid"/>
          </a:ln>
        </p:spPr>
      </p:sp>
      <p:sp>
        <p:nvSpPr>
          <p:cNvPr id="7" name="anim-fade-body"/>
          <p:cNvSpPr txBox="1"/>
          <p:nvPr/>
        </p:nvSpPr>
        <p:spPr>
          <a:xfrm>
            <a:off x="822960" y="2286000"/>
            <a:ext cx="5440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5000"/>
              </a:lnSpc>
              <a:spcAft>
                <a:spcPts val="1400"/>
              </a:spcAft>
              <a:buNone/>
            </a:pPr>
            <a:r>
              <a:rPr lang="ar-SA" sz="2000" dirty="0">
                <a:solidFill>
                  <a:srgbClr val="2B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قسم يشبه اللعبة: ينطق التطبيق كلمة، وعلى المتدرّب أن يؤدي إشارتها أمام الكاميرا.</a:t>
            </a:r>
            <a:endParaRPr lang="ar-SA" sz="2000" dirty="0"/>
          </a:p>
          <a:p>
            <a:pPr rtl="1" algn="r" indent="0" marL="0">
              <a:lnSpc>
                <a:spcPct val="145000"/>
              </a:lnSpc>
              <a:spcAft>
                <a:spcPts val="1400"/>
              </a:spcAft>
              <a:buNone/>
            </a:pPr>
            <a:r>
              <a:rPr lang="ar-SA" sz="2000" dirty="0">
                <a:solidFill>
                  <a:srgbClr val="2B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 أخطأ في إصبع قال له أي إصبع يحتاج تعديلاً. مناسب للأهل والزملاء الذين يتعلمون لغتك.</a:t>
            </a:r>
            <a:endParaRPr lang="ar-SA" sz="2000" dirty="0"/>
          </a:p>
        </p:txBody>
      </p:sp>
      <p:sp>
        <p:nvSpPr>
          <p:cNvPr id="8" name="anim-fade-note"/>
          <p:cNvSpPr txBox="1"/>
          <p:nvPr/>
        </p:nvSpPr>
        <p:spPr>
          <a:xfrm>
            <a:off x="822960" y="5440680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ar-SA" sz="1600" i="1" dirty="0">
                <a:solidFill>
                  <a:srgbClr val="9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عدّاد من ١٠ يبيّن أين وصلوا، وفيه أكثر من نمط، منها «المتسلسل».</a:t>
            </a:r>
            <a:endParaRPr lang="ar-SA" sz="16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repeatCount="indefinite" autoRev="1" fill="hold" grpId="0" nodeType="withEffect">
                                  <p:stCondLst>
                                    <p:cond delay="11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011 0 E" pathEditMode="relative" rAng="0" ptsTypes="AA">
                                      <p:cBhvr>
                                        <p:cTn id="12" dur="1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9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9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9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9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0" presetClass="path" presetSubtype="0" accel="50000" decel="50000" repeatCount="indefinite" autoRev="1" fill="hold" grpId="0" nodeType="withEffect">
                                  <p:stCondLst>
                                    <p:cond delay="9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 -0.014 E" pathEditMode="relative" rAng="0" ptsTypes="AA">
                                      <p:cBhvr>
                                        <p:cTn id="29" dur="1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0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0" presetClass="path" presetSubtype="0" accel="50000" decel="50000" repeatCount="indefinite" autoRev="1" fill="hold" nodeType="withEffect">
                                  <p:stCondLst>
                                    <p:cond delay="9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 -0.014 E" pathEditMode="relative" rAng="0" ptsTypes="AA">
                                      <p:cBhvr>
                                        <p:cTn id="31" dur="1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2" grpId="0" animBg="1"/>
      <p:bldP spid="3" grpId="0" animBg="1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94960" y="37490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ar-SA" sz="23000" b="1" dirty="0">
                <a:solidFill>
                  <a:srgbClr val="EFE2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ar-SA" sz="23000" dirty="0"/>
          </a:p>
        </p:txBody>
      </p:sp>
      <p:sp>
        <p:nvSpPr>
          <p:cNvPr id="3" name="anim-fade-shf"/>
          <p:cNvSpPr/>
          <p:nvPr/>
        </p:nvSpPr>
        <p:spPr>
          <a:xfrm rot="-132000">
            <a:off x="822960" y="913059"/>
            <a:ext cx="4480560" cy="5123322"/>
          </a:xfrm>
          <a:prstGeom prst="rect">
            <a:avLst/>
          </a:prstGeom>
          <a:solidFill>
            <a:srgbClr val="FFFFFF"/>
          </a:solidFill>
          <a:ln w="9525">
            <a:solidFill>
              <a:srgbClr val="E4D8C2"/>
            </a:solidFill>
            <a:prstDash val="solid"/>
          </a:ln>
          <a:effectLst>
            <a:outerShdw sx="100000" sy="100000" kx="0" ky="0" algn="bl" rotWithShape="0" blurRad="127000" dist="50800" dir="4200000">
              <a:srgbClr val="5A4630">
                <a:alpha val="22000"/>
              </a:srgbClr>
            </a:outerShdw>
          </a:effectLst>
        </p:spPr>
      </p:sp>
      <p:pic>
        <p:nvPicPr>
          <p:cNvPr id="4" name="anim-zoom-sh" descr="/home/claude/assets/shot_di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32000">
            <a:off x="914400" y="1004499"/>
            <a:ext cx="4297680" cy="4940442"/>
          </a:xfrm>
          <a:prstGeom prst="rect">
            <a:avLst/>
          </a:prstGeom>
        </p:spPr>
      </p:pic>
      <p:sp>
        <p:nvSpPr>
          <p:cNvPr id="5" name="anim-wipe-title"/>
          <p:cNvSpPr txBox="1"/>
          <p:nvPr/>
        </p:nvSpPr>
        <p:spPr>
          <a:xfrm>
            <a:off x="5943600" y="731520"/>
            <a:ext cx="5440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4800" b="1" dirty="0">
                <a:solidFill>
                  <a:srgbClr val="0F3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قاموسي</a:t>
            </a:r>
            <a:endParaRPr lang="ar-SA" sz="4800" dirty="0"/>
          </a:p>
        </p:txBody>
      </p:sp>
      <p:sp>
        <p:nvSpPr>
          <p:cNvPr id="6" name="anim-wipe-sq"/>
          <p:cNvSpPr/>
          <p:nvPr/>
        </p:nvSpPr>
        <p:spPr>
          <a:xfrm>
            <a:off x="9006840" y="1737360"/>
            <a:ext cx="2377440" cy="128016"/>
          </a:xfrm>
          <a:custGeom>
            <a:avLst/>
            <a:gdLst/>
            <a:ahLst/>
            <a:cxnLst/>
            <a:rect l="l" t="t" r="r" b="b"/>
            <a:pathLst>
              <a:path w="2377440" h="128016">
                <a:moveTo>
                  <a:pt x="0" y="73152"/>
                </a:moveTo>
                <a:cubicBezTo>
                  <a:pt x="118872" y="109728"/>
                  <a:pt x="277368" y="0"/>
                  <a:pt x="423672" y="18288"/>
                </a:cubicBezTo>
                <a:cubicBezTo>
                  <a:pt x="515112" y="18288"/>
                  <a:pt x="673608" y="137160"/>
                  <a:pt x="847344" y="109728"/>
                </a:cubicBezTo>
                <a:cubicBezTo>
                  <a:pt x="911352" y="109728"/>
                  <a:pt x="1069848" y="0"/>
                  <a:pt x="1188720" y="18288"/>
                </a:cubicBezTo>
                <a:cubicBezTo>
                  <a:pt x="1307592" y="18288"/>
                  <a:pt x="1466088" y="137160"/>
                  <a:pt x="1612392" y="109728"/>
                </a:cubicBezTo>
                <a:cubicBezTo>
                  <a:pt x="1703832" y="109728"/>
                  <a:pt x="1862328" y="0"/>
                  <a:pt x="2036064" y="18288"/>
                </a:cubicBezTo>
                <a:cubicBezTo>
                  <a:pt x="2100072" y="18288"/>
                  <a:pt x="2258568" y="137160"/>
                  <a:pt x="2377440" y="54864"/>
                </a:cubicBezTo>
              </a:path>
            </a:pathLst>
          </a:custGeom>
          <a:ln w="44450">
            <a:solidFill>
              <a:srgbClr val="E8801A"/>
            </a:solidFill>
            <a:prstDash val="solid"/>
          </a:ln>
        </p:spPr>
      </p:sp>
      <p:sp>
        <p:nvSpPr>
          <p:cNvPr id="7" name="anim-fade-body"/>
          <p:cNvSpPr txBox="1"/>
          <p:nvPr/>
        </p:nvSpPr>
        <p:spPr>
          <a:xfrm>
            <a:off x="5943600" y="2286000"/>
            <a:ext cx="5440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5000"/>
              </a:lnSpc>
              <a:spcAft>
                <a:spcPts val="1400"/>
              </a:spcAft>
              <a:buNone/>
            </a:pPr>
            <a:r>
              <a:rPr lang="ar-SA" sz="2000" dirty="0">
                <a:solidFill>
                  <a:srgbClr val="2B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القاموس ملكك: تضيف إشارة جديدة بضغطة، وتسجّل حتى الأسماء والكلمات التي لا يعرفها التطبيق.</a:t>
            </a:r>
            <a:endParaRPr lang="ar-SA" sz="2000" dirty="0"/>
          </a:p>
          <a:p>
            <a:pPr rtl="1" algn="r" indent="0" marL="0">
              <a:lnSpc>
                <a:spcPct val="145000"/>
              </a:lnSpc>
              <a:spcAft>
                <a:spcPts val="1400"/>
              </a:spcAft>
              <a:buNone/>
            </a:pPr>
            <a:r>
              <a:rPr lang="ar-SA" sz="2000" dirty="0">
                <a:solidFill>
                  <a:srgbClr val="2B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وتستطيع استيراد القاموس وتصديره، فتحتفظ بنسخة من إشاراتك. وعند تسجيل الحروف يرافقك زر «الحرف التالي» وعدّاد للتقدّم.</a:t>
            </a:r>
            <a:endParaRPr lang="ar-SA" sz="2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repeatCount="indefinite" autoRev="1" fill="hold" grpId="0" nodeType="withEffect">
                                  <p:stCondLst>
                                    <p:cond delay="11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011 0 E" pathEditMode="relative" rAng="0" ptsTypes="AA">
                                      <p:cBhvr>
                                        <p:cTn id="12" dur="1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9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9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9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9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0" presetClass="path" presetSubtype="0" accel="50000" decel="50000" repeatCount="indefinite" autoRev="1" fill="hold" grpId="0" nodeType="withEffect">
                                  <p:stCondLst>
                                    <p:cond delay="9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 -0.014 E" pathEditMode="relative" rAng="0" ptsTypes="AA">
                                      <p:cBhvr>
                                        <p:cTn id="29" dur="1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0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0" presetClass="path" presetSubtype="0" accel="50000" decel="50000" repeatCount="indefinite" autoRev="1" fill="hold" nodeType="withEffect">
                                  <p:stCondLst>
                                    <p:cond delay="9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 -0.014 E" pathEditMode="relative" rAng="0" ptsTypes="AA">
                                      <p:cBhvr>
                                        <p:cTn id="31" dur="1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2" grpId="0" animBg="1"/>
      <p:bldP spid="3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337560" y="37490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ar-SA" sz="23000" b="1" dirty="0">
                <a:solidFill>
                  <a:srgbClr val="EFE2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ar-SA" sz="23000" dirty="0"/>
          </a:p>
        </p:txBody>
      </p:sp>
      <p:sp>
        <p:nvSpPr>
          <p:cNvPr id="3" name="anim-fade-shf"/>
          <p:cNvSpPr/>
          <p:nvPr/>
        </p:nvSpPr>
        <p:spPr>
          <a:xfrm rot="108000">
            <a:off x="6888175" y="913059"/>
            <a:ext cx="4480560" cy="5123322"/>
          </a:xfrm>
          <a:prstGeom prst="rect">
            <a:avLst/>
          </a:prstGeom>
          <a:solidFill>
            <a:srgbClr val="FFFFFF"/>
          </a:solidFill>
          <a:ln w="9525">
            <a:solidFill>
              <a:srgbClr val="E4D8C2"/>
            </a:solidFill>
            <a:prstDash val="solid"/>
          </a:ln>
          <a:effectLst>
            <a:outerShdw sx="100000" sy="100000" kx="0" ky="0" algn="bl" rotWithShape="0" blurRad="127000" dist="50800" dir="4200000">
              <a:srgbClr val="5A4630">
                <a:alpha val="22000"/>
              </a:srgbClr>
            </a:outerShdw>
          </a:effectLst>
        </p:spPr>
      </p:sp>
      <p:pic>
        <p:nvPicPr>
          <p:cNvPr id="4" name="anim-zoom-sh" descr="/home/claude/assets/shot_comman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">
            <a:off x="6979615" y="1004499"/>
            <a:ext cx="4297680" cy="4940442"/>
          </a:xfrm>
          <a:prstGeom prst="rect">
            <a:avLst/>
          </a:prstGeom>
        </p:spPr>
      </p:pic>
      <p:sp>
        <p:nvSpPr>
          <p:cNvPr id="5" name="anim-wipe-title"/>
          <p:cNvSpPr txBox="1"/>
          <p:nvPr/>
        </p:nvSpPr>
        <p:spPr>
          <a:xfrm>
            <a:off x="822960" y="731520"/>
            <a:ext cx="5440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4800" b="1" dirty="0">
                <a:solidFill>
                  <a:srgbClr val="0F3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الأوامر</a:t>
            </a:r>
            <a:endParaRPr lang="ar-SA" sz="4800" dirty="0"/>
          </a:p>
        </p:txBody>
      </p:sp>
      <p:sp>
        <p:nvSpPr>
          <p:cNvPr id="6" name="anim-wipe-sq"/>
          <p:cNvSpPr/>
          <p:nvPr/>
        </p:nvSpPr>
        <p:spPr>
          <a:xfrm>
            <a:off x="3886200" y="1737360"/>
            <a:ext cx="2377440" cy="128016"/>
          </a:xfrm>
          <a:custGeom>
            <a:avLst/>
            <a:gdLst/>
            <a:ahLst/>
            <a:cxnLst/>
            <a:rect l="l" t="t" r="r" b="b"/>
            <a:pathLst>
              <a:path w="2377440" h="128016">
                <a:moveTo>
                  <a:pt x="0" y="73152"/>
                </a:moveTo>
                <a:cubicBezTo>
                  <a:pt x="118872" y="109728"/>
                  <a:pt x="277368" y="0"/>
                  <a:pt x="423672" y="18288"/>
                </a:cubicBezTo>
                <a:cubicBezTo>
                  <a:pt x="515112" y="18288"/>
                  <a:pt x="673608" y="137160"/>
                  <a:pt x="847344" y="109728"/>
                </a:cubicBezTo>
                <a:cubicBezTo>
                  <a:pt x="911352" y="109728"/>
                  <a:pt x="1069848" y="0"/>
                  <a:pt x="1188720" y="18288"/>
                </a:cubicBezTo>
                <a:cubicBezTo>
                  <a:pt x="1307592" y="18288"/>
                  <a:pt x="1466088" y="137160"/>
                  <a:pt x="1612392" y="109728"/>
                </a:cubicBezTo>
                <a:cubicBezTo>
                  <a:pt x="1703832" y="109728"/>
                  <a:pt x="1862328" y="0"/>
                  <a:pt x="2036064" y="18288"/>
                </a:cubicBezTo>
                <a:cubicBezTo>
                  <a:pt x="2100072" y="18288"/>
                  <a:pt x="2258568" y="137160"/>
                  <a:pt x="2377440" y="54864"/>
                </a:cubicBezTo>
              </a:path>
            </a:pathLst>
          </a:custGeom>
          <a:ln w="44450">
            <a:solidFill>
              <a:srgbClr val="E8801A"/>
            </a:solidFill>
            <a:prstDash val="solid"/>
          </a:ln>
        </p:spPr>
      </p:sp>
      <p:sp>
        <p:nvSpPr>
          <p:cNvPr id="7" name="anim-fade-body"/>
          <p:cNvSpPr txBox="1"/>
          <p:nvPr/>
        </p:nvSpPr>
        <p:spPr>
          <a:xfrm>
            <a:off x="822960" y="2286000"/>
            <a:ext cx="5440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5000"/>
              </a:lnSpc>
              <a:spcAft>
                <a:spcPts val="1400"/>
              </a:spcAft>
              <a:buNone/>
            </a:pPr>
            <a:r>
              <a:rPr lang="ar-SA" sz="2000" dirty="0">
                <a:solidFill>
                  <a:srgbClr val="2B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هنا تتحكم بما حولك بإشارة من يدك: تستدعي النجدة، أو تقلّب شرائح العرض على الحاسوب.</a:t>
            </a:r>
            <a:endParaRPr lang="ar-SA" sz="2000" dirty="0"/>
          </a:p>
        </p:txBody>
      </p:sp>
      <p:sp>
        <p:nvSpPr>
          <p:cNvPr id="8" name="anim-fade-note"/>
          <p:cNvSpPr txBox="1"/>
          <p:nvPr/>
        </p:nvSpPr>
        <p:spPr>
          <a:xfrm>
            <a:off x="822960" y="5440680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ar-SA" sz="1600" i="1" dirty="0">
                <a:solidFill>
                  <a:srgbClr val="9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تعمل بالكاميرا نفسها، وبالخصوصية نفسها.</a:t>
            </a:r>
            <a:endParaRPr lang="ar-SA" sz="16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repeatCount="indefinite" autoRev="1" fill="hold" grpId="0" nodeType="withEffect">
                                  <p:stCondLst>
                                    <p:cond delay="11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011 0 E" pathEditMode="relative" rAng="0" ptsTypes="AA">
                                      <p:cBhvr>
                                        <p:cTn id="12" dur="1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9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9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9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9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0" presetClass="path" presetSubtype="0" accel="50000" decel="50000" repeatCount="indefinite" autoRev="1" fill="hold" grpId="0" nodeType="withEffect">
                                  <p:stCondLst>
                                    <p:cond delay="9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 -0.014 E" pathEditMode="relative" rAng="0" ptsTypes="AA">
                                      <p:cBhvr>
                                        <p:cTn id="29" dur="1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0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0" presetClass="path" presetSubtype="0" accel="50000" decel="50000" repeatCount="indefinite" autoRev="1" fill="hold" nodeType="withEffect">
                                  <p:stCondLst>
                                    <p:cond delay="9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 -0.014 E" pathEditMode="relative" rAng="0" ptsTypes="AA">
                                      <p:cBhvr>
                                        <p:cTn id="31" dur="1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2" grpId="0" animBg="1"/>
      <p:bldP spid="3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-wipe-big"/>
          <p:cNvSpPr txBox="1"/>
          <p:nvPr/>
        </p:nvSpPr>
        <p:spPr>
          <a:xfrm>
            <a:off x="1097280" y="1554480"/>
            <a:ext cx="9966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5800" b="1" dirty="0">
                <a:solidFill>
                  <a:srgbClr val="FBF3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الفيديو يبقى في جوالك.</a:t>
            </a:r>
            <a:endParaRPr lang="ar-SA" sz="5800" dirty="0"/>
          </a:p>
        </p:txBody>
      </p:sp>
      <p:sp>
        <p:nvSpPr>
          <p:cNvPr id="3" name="anim-wipe-sq"/>
          <p:cNvSpPr/>
          <p:nvPr/>
        </p:nvSpPr>
        <p:spPr>
          <a:xfrm>
            <a:off x="8138160" y="3429000"/>
            <a:ext cx="2926080" cy="128016"/>
          </a:xfrm>
          <a:custGeom>
            <a:avLst/>
            <a:gdLst/>
            <a:ahLst/>
            <a:cxnLst/>
            <a:rect l="l" t="t" r="r" b="b"/>
            <a:pathLst>
              <a:path w="2926080" h="128016">
                <a:moveTo>
                  <a:pt x="0" y="73152"/>
                </a:moveTo>
                <a:cubicBezTo>
                  <a:pt x="146304" y="109728"/>
                  <a:pt x="341376" y="0"/>
                  <a:pt x="515112" y="18288"/>
                </a:cubicBezTo>
                <a:cubicBezTo>
                  <a:pt x="633984" y="18288"/>
                  <a:pt x="829056" y="137160"/>
                  <a:pt x="1030224" y="109728"/>
                </a:cubicBezTo>
                <a:cubicBezTo>
                  <a:pt x="1121664" y="109728"/>
                  <a:pt x="1316736" y="0"/>
                  <a:pt x="1463040" y="18288"/>
                </a:cubicBezTo>
                <a:cubicBezTo>
                  <a:pt x="1609344" y="18288"/>
                  <a:pt x="1804416" y="137160"/>
                  <a:pt x="1978152" y="109728"/>
                </a:cubicBezTo>
                <a:cubicBezTo>
                  <a:pt x="2097024" y="109728"/>
                  <a:pt x="2292096" y="0"/>
                  <a:pt x="2493264" y="18288"/>
                </a:cubicBezTo>
                <a:cubicBezTo>
                  <a:pt x="2584704" y="18288"/>
                  <a:pt x="2779776" y="137160"/>
                  <a:pt x="2926080" y="54864"/>
                </a:cubicBezTo>
              </a:path>
            </a:pathLst>
          </a:custGeom>
          <a:ln w="44450">
            <a:solidFill>
              <a:srgbClr val="E8801A"/>
            </a:solidFill>
            <a:prstDash val="solid"/>
          </a:ln>
        </p:spPr>
      </p:sp>
      <p:sp>
        <p:nvSpPr>
          <p:cNvPr id="4" name="anim-fade-p"/>
          <p:cNvSpPr txBox="1"/>
          <p:nvPr/>
        </p:nvSpPr>
        <p:spPr>
          <a:xfrm>
            <a:off x="2377440" y="393192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sz="2600" dirty="0">
                <a:solidFill>
                  <a:srgbClr val="D9E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المعالجة كلها تتم داخل الهاتف، ولا يُرسل أي فيديو إلى أي مكان. والتطبيق يعمل من المتصفح مباشرة.</a:t>
            </a:r>
            <a:endParaRPr lang="ar-SA" sz="26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repeatCount="indefinite" autoRev="1" fill="hold" grpId="0" nodeType="withEffect">
                                  <p:stCondLst>
                                    <p:cond delay="11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011 0 E" pathEditMode="relative" rAng="0" ptsTypes="AA">
                                      <p:cBhvr>
                                        <p:cTn id="12" dur="1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nim-zoom-logo" descr="/home/claude/assets/logo_fu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0000">
            <a:off x="1371600" y="1188720"/>
            <a:ext cx="3200400" cy="4000500"/>
          </a:xfrm>
          <a:prstGeom prst="rect">
            <a:avLst/>
          </a:prstGeom>
          <a:effectLst>
            <a:outerShdw sx="100000" sy="100000" kx="0" ky="0" algn="bl" rotWithShape="0" blurRad="152400" dist="63500" dir="3600000">
              <a:srgbClr val="5A4630">
                <a:alpha val="30000"/>
              </a:srgbClr>
            </a:outerShdw>
          </a:effectLst>
        </p:spPr>
      </p:pic>
      <p:sp>
        <p:nvSpPr>
          <p:cNvPr id="3" name="anim-wipe-title"/>
          <p:cNvSpPr txBox="1"/>
          <p:nvPr/>
        </p:nvSpPr>
        <p:spPr>
          <a:xfrm>
            <a:off x="5303520" y="1554480"/>
            <a:ext cx="6217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6400" b="1" dirty="0">
                <a:solidFill>
                  <a:srgbClr val="0F3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جرّبه بنفسك</a:t>
            </a:r>
            <a:endParaRPr lang="ar-SA" sz="6400" dirty="0"/>
          </a:p>
        </p:txBody>
      </p:sp>
      <p:sp>
        <p:nvSpPr>
          <p:cNvPr id="4" name="anim-wipe-sq"/>
          <p:cNvSpPr/>
          <p:nvPr/>
        </p:nvSpPr>
        <p:spPr>
          <a:xfrm>
            <a:off x="8595360" y="2880360"/>
            <a:ext cx="2926080" cy="128016"/>
          </a:xfrm>
          <a:custGeom>
            <a:avLst/>
            <a:gdLst/>
            <a:ahLst/>
            <a:cxnLst/>
            <a:rect l="l" t="t" r="r" b="b"/>
            <a:pathLst>
              <a:path w="2926080" h="128016">
                <a:moveTo>
                  <a:pt x="0" y="73152"/>
                </a:moveTo>
                <a:cubicBezTo>
                  <a:pt x="146304" y="109728"/>
                  <a:pt x="341376" y="0"/>
                  <a:pt x="515112" y="18288"/>
                </a:cubicBezTo>
                <a:cubicBezTo>
                  <a:pt x="633984" y="18288"/>
                  <a:pt x="829056" y="137160"/>
                  <a:pt x="1030224" y="109728"/>
                </a:cubicBezTo>
                <a:cubicBezTo>
                  <a:pt x="1121664" y="109728"/>
                  <a:pt x="1316736" y="0"/>
                  <a:pt x="1463040" y="18288"/>
                </a:cubicBezTo>
                <a:cubicBezTo>
                  <a:pt x="1609344" y="18288"/>
                  <a:pt x="1804416" y="137160"/>
                  <a:pt x="1978152" y="109728"/>
                </a:cubicBezTo>
                <a:cubicBezTo>
                  <a:pt x="2097024" y="109728"/>
                  <a:pt x="2292096" y="0"/>
                  <a:pt x="2493264" y="18288"/>
                </a:cubicBezTo>
                <a:cubicBezTo>
                  <a:pt x="2584704" y="18288"/>
                  <a:pt x="2779776" y="137160"/>
                  <a:pt x="2926080" y="54864"/>
                </a:cubicBezTo>
              </a:path>
            </a:pathLst>
          </a:custGeom>
          <a:ln w="44450">
            <a:solidFill>
              <a:srgbClr val="E8801A"/>
            </a:solidFill>
            <a:prstDash val="solid"/>
          </a:ln>
        </p:spPr>
      </p:sp>
      <p:sp>
        <p:nvSpPr>
          <p:cNvPr id="5" name="anim-fade-link">
            <a:hlinkClick r:id="rId3" tooltip=""/>
          </p:cNvPr>
          <p:cNvSpPr txBox="1"/>
          <p:nvPr/>
        </p:nvSpPr>
        <p:spPr>
          <a:xfrm>
            <a:off x="5303520" y="365760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u="sng" dirty="0">
                <a:solidFill>
                  <a:srgbClr val="3B34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mmody1334-gif.github.io/ain-app</a:t>
            </a:r>
            <a:endParaRPr lang="en-US" sz="2100" dirty="0"/>
          </a:p>
        </p:txBody>
      </p:sp>
      <p:sp>
        <p:nvSpPr>
          <p:cNvPr id="6" name="anim-fade-s"/>
          <p:cNvSpPr txBox="1"/>
          <p:nvPr/>
        </p:nvSpPr>
        <p:spPr>
          <a:xfrm>
            <a:off x="5303520" y="43891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900" dirty="0">
                <a:solidFill>
                  <a:srgbClr val="7A6F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يعمل على الجوال والحاسوب من المتصفح.</a:t>
            </a:r>
            <a:endParaRPr lang="ar-SA" sz="1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0" presetClass="path" presetSubtype="0" accel="50000" decel="50000" repeatCount="indefinite" autoRev="1" fill="hold" grpId="0" nodeType="withEffect">
                                  <p:stCondLst>
                                    <p:cond delay="11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011 0 E" pathEditMode="relative" rAng="0" ptsTypes="AA">
                                      <p:cBhvr>
                                        <p:cTn id="17" dur="1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عين</dc:title>
  <dc:subject>PptxGenJS Presentation</dc:subject>
  <dc:creator>PptxGenJS</dc:creator>
  <cp:lastModifiedBy>PptxGenJS</cp:lastModifiedBy>
  <cp:revision>1</cp:revision>
  <dcterms:created xsi:type="dcterms:W3CDTF">2026-10-23T23:33:09Z</dcterms:created>
  <dcterms:modified xsi:type="dcterms:W3CDTF">2026-10-23T23:33:09Z</dcterms:modified>
</cp:coreProperties>
</file>