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A5CFF"/>
            </a:gs>
            <a:gs pos="100000">
              <a:srgbClr val="2F28B4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" y="5806440"/>
            <a:ext cx="457200" cy="457200"/>
          </a:xfrm>
          <a:prstGeom prst="ellips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6000" b="1">
                <a:solidFill>
                  <a:srgbClr val="F7F5EE"/>
                </a:solidFill>
                <a:latin typeface="Segoe UI"/>
              </a:rPr>
              <a:t>حذيفة — ترجمان لغة الإشارة</a:t>
            </a:r>
          </a:p>
          <a:p>
            <a:pPr algn="ctr" rtl="1">
              <a:spcAft>
                <a:spcPts val="1000"/>
              </a:spcAft>
            </a:pPr>
            <a:r>
              <a:rPr sz="2600" b="0">
                <a:solidFill>
                  <a:srgbClr val="F08A1D"/>
                </a:solidFill>
                <a:latin typeface="Segoe UI"/>
              </a:rPr>
              <a:t>يرى الإشارة وينطقها فوراً · يسمع الكلام ويرسمه بيده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A5CFF"/>
            </a:gs>
            <a:gs pos="100000">
              <a:srgbClr val="2F28B4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" y="5806440"/>
            <a:ext cx="457200" cy="457200"/>
          </a:xfrm>
          <a:prstGeom prst="ellips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F7F5EE"/>
                </a:solidFill>
                <a:latin typeface="Segoe UI"/>
              </a:rPr>
              <a:t>المشكلة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10817352" cy="4160520"/>
          </a:xfrm>
          <a:prstGeom prst="roundRect">
            <a:avLst/>
          </a:prstGeom>
          <a:solidFill>
            <a:srgbClr val="F7F5EE"/>
          </a:solidFill>
          <a:ln>
            <a:solidFill>
              <a:srgbClr val="F7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/>
          <a:lstStyle/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من أصم لا يشاركك الكلام إلا عبر تُرجمان حاضر، أو أن يُقصى من الحوار.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الاتصال الهاتف لا ينفعه، والطوارئ واللقاءات الطبية أسوأ المواقف.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أدوات الترجمة الذاتية الحالية إما كاميرات غالية أو تعمل عبر الإنترنت فقط.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A5CFF"/>
            </a:gs>
            <a:gs pos="100000">
              <a:srgbClr val="2F28B4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" y="5806440"/>
            <a:ext cx="457200" cy="457200"/>
          </a:xfrm>
          <a:prstGeom prst="ellips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F7F5EE"/>
                </a:solidFill>
                <a:latin typeface="Segoe UI"/>
              </a:rPr>
              <a:t>الحل: حذيفة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10817352" cy="4160520"/>
          </a:xfrm>
          <a:prstGeom prst="roundRect">
            <a:avLst/>
          </a:prstGeom>
          <a:solidFill>
            <a:srgbClr val="F7F5EE"/>
          </a:solidFill>
          <a:ln>
            <a:solidFill>
              <a:srgbClr val="F7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/>
          <a:lstStyle/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كاميرا هاتفك أو حاسوبك ترى الإشارة، والذكاء داخل الجهاز يترجمها صوتاً حياً.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وجهك تقول كلمة أو جملة، فيرسمها حرفاً حرفاً بيده المتحركة أمام الصم.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قاموس شخصي يتعلم إشارتك أنت، وتمارين تحضّر الأهل على نفسها.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A5CFF"/>
            </a:gs>
            <a:gs pos="100000">
              <a:srgbClr val="2F28B4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" y="5806440"/>
            <a:ext cx="457200" cy="457200"/>
          </a:xfrm>
          <a:prstGeom prst="ellips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F7F5EE"/>
                </a:solidFill>
                <a:latin typeface="Segoe UI"/>
              </a:rPr>
              <a:t>ما الذي يبهر فيه الحل؟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10817352" cy="4160520"/>
          </a:xfrm>
          <a:prstGeom prst="roundRect">
            <a:avLst/>
          </a:prstGeom>
          <a:solidFill>
            <a:srgbClr val="F7F5EE"/>
          </a:solidFill>
          <a:ln>
            <a:solidFill>
              <a:srgbClr val="F7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/>
          <a:lstStyle/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كل المعالجة داخل الجهاز: لا خادم، لا حساب، لا إنترنت بعد التثبيت.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ينشر هذا الفرق من الكاميرا إلى المصنّف إلى الصوت في أقل من ثانية.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خصوصية كاملة: لا شيء يغادر هاتف المستخدم أبداً.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A5CFF"/>
            </a:gs>
            <a:gs pos="100000">
              <a:srgbClr val="2F28B4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" y="5806440"/>
            <a:ext cx="457200" cy="457200"/>
          </a:xfrm>
          <a:prstGeom prst="ellips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F7F5EE"/>
                </a:solidFill>
                <a:latin typeface="Segoe UI"/>
              </a:rPr>
              <a:t>جرّبها معنا الآن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10817352" cy="4160520"/>
          </a:xfrm>
          <a:prstGeom prst="roundRect">
            <a:avLst/>
          </a:prstGeom>
          <a:solidFill>
            <a:srgbClr val="F7F5EE"/>
          </a:solidFill>
          <a:ln>
            <a:solidFill>
              <a:srgbClr val="F7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/>
          <a:lstStyle/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لوّح كفك في الهواء إلى اليسار ← الشريحة التي ترونها الآن هي التال.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لوّح إلى اليمين ← التتبع التالي.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لا لمس، لا جهاز تحكم عن بعد — يدك فقط.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A5CFF"/>
            </a:gs>
            <a:gs pos="100000">
              <a:srgbClr val="2F28B4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" y="5806440"/>
            <a:ext cx="457200" cy="457200"/>
          </a:xfrm>
          <a:prstGeom prst="ellips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F7F5EE"/>
                </a:solidFill>
                <a:latin typeface="Segoe UI"/>
              </a:rPr>
              <a:t>الطوارئ بلا كاميرا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10817352" cy="4160520"/>
          </a:xfrm>
          <a:prstGeom prst="roundRect">
            <a:avLst/>
          </a:prstGeom>
          <a:solidFill>
            <a:srgbClr val="F7F5EE"/>
          </a:solidFill>
          <a:ln>
            <a:solidFill>
              <a:srgbClr val="F7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/>
          <a:lstStyle/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فقاعة حمراء عائمة داخل التطبيق: ضغطة واحدة تكفي.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عد تنازلي ٥ ثوانٍ للإلغاء، ثم صفارة ووميض ورسالة جاهزة بالعيّنة.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تعمل حتى لو الكاميرا مغلقة أو الإنترنت غائب.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A5CFF"/>
            </a:gs>
            <a:gs pos="100000">
              <a:srgbClr val="2F28B4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" y="5806440"/>
            <a:ext cx="457200" cy="457200"/>
          </a:xfrm>
          <a:prstGeom prst="ellips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F7F5EE"/>
                </a:solidFill>
                <a:latin typeface="Segoe UI"/>
              </a:rPr>
              <a:t>موثوق علمياً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10817352" cy="4160520"/>
          </a:xfrm>
          <a:prstGeom prst="roundRect">
            <a:avLst/>
          </a:prstGeom>
          <a:solidFill>
            <a:srgbClr val="F7F5EE"/>
          </a:solidFill>
          <a:ln>
            <a:solidFill>
              <a:srgbClr val="F7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/>
          <a:lstStyle/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نستخرج 21 نقطة لكف اليد في الإطار، ثم زوايا الأصابع وبوابة الطي والموضع عن الكتف.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مصنّف إحصائي يتعلم من تسجيلات المستخدم نفسه، ومعايرة كف يمنح قياساً شخصياً.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شرايط على الشاشة تعرض الملاحظات: مسافة يدك، إضاءة، ثبات — بلا اكتشافات صدفة.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A5CFF"/>
            </a:gs>
            <a:gs pos="100000">
              <a:srgbClr val="2F28B4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" y="5806440"/>
            <a:ext cx="457200" cy="457200"/>
          </a:xfrm>
          <a:prstGeom prst="ellips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F7F5EE"/>
                </a:solidFill>
                <a:latin typeface="Segoe UI"/>
              </a:rPr>
              <a:t>لماذا هذا مشروع الآن؟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10817352" cy="4160520"/>
          </a:xfrm>
          <a:prstGeom prst="roundRect">
            <a:avLst/>
          </a:prstGeom>
          <a:solidFill>
            <a:srgbClr val="F7F5EE"/>
          </a:solidFill>
          <a:ln>
            <a:solidFill>
              <a:srgbClr val="F7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/>
          <a:lstStyle/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الهواتف الحالية تعرف الرؤية المائية مجاناً (MediaPipe) — كانت قاصرة على المعاملات سابقاً.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واجهات الصوت العربية للجهاز تحسن حتى تُنطق الفصحى لا اللامية.</a:t>
            </a:r>
          </a:p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الصدي مصمم لينشر مع الصم مباشرة، ثم يلدي الأهل لا العكس.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6A5CFF"/>
            </a:gs>
            <a:gs pos="100000">
              <a:srgbClr val="2F28B4"/>
            </a:gs>
          </a:gsLst>
          <a:lin scaled="0" ang="189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94360" y="5806440"/>
            <a:ext cx="457200" cy="457200"/>
          </a:xfrm>
          <a:prstGeom prst="ellipse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F7F5EE"/>
                </a:solidFill>
                <a:latin typeface="Segoe UI"/>
              </a:rPr>
              <a:t>إلى اللجنة: أسئلتكم مرحَّب بها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148840"/>
            <a:ext cx="10817352" cy="4160520"/>
          </a:xfrm>
          <a:prstGeom prst="roundRect">
            <a:avLst/>
          </a:prstGeom>
          <a:solidFill>
            <a:srgbClr val="F7F5EE"/>
          </a:solidFill>
          <a:ln>
            <a:solidFill>
              <a:srgbClr val="F7F5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/>
          <a:lstStyle/>
          <a:p>
            <a:pPr algn="r" rtl="1">
              <a:spcAft>
                <a:spcPts val="900"/>
              </a:spcAft>
            </a:pPr>
            <a:r>
              <a:rPr sz="2400">
                <a:solidFill>
                  <a:srgbClr val="221F6B"/>
                </a:solidFill>
                <a:latin typeface="Segoe UI"/>
              </a:rPr>
              <a:t>دعنا نجرِّب الحكم بنفسنا: أي إشارة من قاموسنا أنصحكم أن تؤدّوها الآن.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